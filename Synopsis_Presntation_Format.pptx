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1"/>
  </p:notesMasterIdLst>
  <p:sldIdLst>
    <p:sldId id="258" r:id="rId2"/>
    <p:sldId id="259" r:id="rId3"/>
    <p:sldId id="260" r:id="rId4"/>
    <p:sldId id="262" r:id="rId5"/>
    <p:sldId id="265" r:id="rId6"/>
    <p:sldId id="266" r:id="rId7"/>
    <p:sldId id="267" r:id="rId8"/>
    <p:sldId id="268" r:id="rId9"/>
    <p:sldId id="269" r:id="rId10"/>
    <p:sldId id="270" r:id="rId11"/>
    <p:sldId id="285" r:id="rId12"/>
    <p:sldId id="271" r:id="rId13"/>
    <p:sldId id="272" r:id="rId14"/>
    <p:sldId id="264" r:id="rId15"/>
    <p:sldId id="273" r:id="rId16"/>
    <p:sldId id="289" r:id="rId17"/>
    <p:sldId id="274" r:id="rId18"/>
    <p:sldId id="275" r:id="rId19"/>
    <p:sldId id="290" r:id="rId20"/>
    <p:sldId id="276" r:id="rId21"/>
    <p:sldId id="277" r:id="rId22"/>
    <p:sldId id="278" r:id="rId23"/>
    <p:sldId id="279" r:id="rId24"/>
    <p:sldId id="280" r:id="rId25"/>
    <p:sldId id="281" r:id="rId26"/>
    <p:sldId id="282" r:id="rId27"/>
    <p:sldId id="283" r:id="rId28"/>
    <p:sldId id="286" r:id="rId29"/>
    <p:sldId id="284" r:id="rId30"/>
  </p:sldIdLst>
  <p:sldSz cx="9144000" cy="5143500" type="screen16x9"/>
  <p:notesSz cx="6858000" cy="9144000"/>
  <p:embeddedFontLst>
    <p:embeddedFont>
      <p:font typeface="Montserrat" panose="000005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30" autoAdjust="0"/>
    <p:restoredTop sz="94660"/>
  </p:normalViewPr>
  <p:slideViewPr>
    <p:cSldViewPr snapToGrid="0">
      <p:cViewPr varScale="1">
        <p:scale>
          <a:sx n="103" d="100"/>
          <a:sy n="103" d="100"/>
        </p:scale>
        <p:origin x="883" y="77"/>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86909205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187c82bc41c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187c82bc41c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87c82bc41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87c82bc41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187c82bc41c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187c82bc41c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187c82bc41c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187c82bc41c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187c82bc41c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187c82bc41c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187c82bc41c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187c82bc41c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187c82bc41c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187c82bc41c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187c82bc41c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187c82bc41c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187c82bc41c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187c82bc41c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187c82bc41c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187c82bc41c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187c82bc41c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187c82bc41c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35153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187c82bc41c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187c82bc41c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187c82bc41c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187c82bc41c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187c82bc41c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187c82bc41c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187c82bc41c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187c82bc41c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187c82bc41c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187c82bc41c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187c82bc41c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187c82bc41c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E735F434-6C69-8442-BE35-DFABBB5EE0A0}"/>
            </a:ext>
          </a:extLst>
        </p:cNvPr>
        <p:cNvGrpSpPr/>
        <p:nvPr/>
      </p:nvGrpSpPr>
      <p:grpSpPr>
        <a:xfrm>
          <a:off x="0" y="0"/>
          <a:ext cx="0" cy="0"/>
          <a:chOff x="0" y="0"/>
          <a:chExt cx="0" cy="0"/>
        </a:xfrm>
      </p:grpSpPr>
      <p:sp>
        <p:nvSpPr>
          <p:cNvPr id="112" name="Google Shape;112;g187c82bc41c_0_32:notes">
            <a:extLst>
              <a:ext uri="{FF2B5EF4-FFF2-40B4-BE49-F238E27FC236}">
                <a16:creationId xmlns:a16="http://schemas.microsoft.com/office/drawing/2014/main" id="{DC0764B8-9474-ED1E-9278-80C9D91D8D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187c82bc41c_0_32:notes">
            <a:extLst>
              <a:ext uri="{FF2B5EF4-FFF2-40B4-BE49-F238E27FC236}">
                <a16:creationId xmlns:a16="http://schemas.microsoft.com/office/drawing/2014/main" id="{9BB9D864-4B5F-9319-75B1-97003EE6B3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46538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187c82bc41c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187c82bc41c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187c82bc41c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187c82bc41c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187c82bc41c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187c82bc41c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187c82bc41c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187c82bc41c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187c82bc41c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187c82bc41c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187c82bc41c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187c82bc41c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187c82bc41c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187c82bc41c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187c82bc41c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187c82bc41c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187c82bc41c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187c82bc41c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56183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187c82bc41c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187c82bc41c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1.xml"/><Relationship Id="rId6" Type="http://schemas.openxmlformats.org/officeDocument/2006/relationships/hyperlink" Target="https://doi.org/10.1016/j.agsy.2016.05.014" TargetMode="External"/><Relationship Id="rId5" Type="http://schemas.openxmlformats.org/officeDocument/2006/relationships/hyperlink" Target="https://doi.org/10.3389/fenvs.2019.00007" TargetMode="External"/><Relationship Id="rId4" Type="http://schemas.openxmlformats.org/officeDocument/2006/relationships/hyperlink" Target="https://doi.org/10.1016/j.rse.2017.07.001"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1.xml"/><Relationship Id="rId6" Type="http://schemas.openxmlformats.org/officeDocument/2006/relationships/hyperlink" Target="https://doi.org/10.1016/j.agsy.2014.01.002" TargetMode="External"/><Relationship Id="rId5" Type="http://schemas.openxmlformats.org/officeDocument/2006/relationships/hyperlink" Target="https://doi.org/10.1016/j.agwat.2019.105753" TargetMode="External"/><Relationship Id="rId4" Type="http://schemas.openxmlformats.org/officeDocument/2006/relationships/hyperlink" Target="https://doi.org/10.3390/rs13091753"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8" name="Google Shape;78;p15"/>
          <p:cNvSpPr/>
          <p:nvPr/>
        </p:nvSpPr>
        <p:spPr>
          <a:xfrm>
            <a:off x="29125" y="4917825"/>
            <a:ext cx="9122100" cy="2256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Rectangle 7"/>
          <p:cNvSpPr/>
          <p:nvPr/>
        </p:nvSpPr>
        <p:spPr>
          <a:xfrm>
            <a:off x="-1" y="44645"/>
            <a:ext cx="9151225" cy="4831451"/>
          </a:xfrm>
          <a:prstGeom prst="rect">
            <a:avLst/>
          </a:prstGeom>
        </p:spPr>
        <p:txBody>
          <a:bodyPr wrap="square">
            <a:spAutoFit/>
          </a:bodyPr>
          <a:lstStyle/>
          <a:p>
            <a:pPr algn="ctr" eaLnBrk="1" hangingPunct="1"/>
            <a:r>
              <a:rPr lang="en-US" altLang="en-US" sz="3200" b="1" dirty="0">
                <a:latin typeface="Times New Roman" pitchFamily="18" charset="0"/>
                <a:cs typeface="Times New Roman" pitchFamily="18" charset="0"/>
              </a:rPr>
              <a:t>Synopsis Presentation</a:t>
            </a:r>
          </a:p>
          <a:p>
            <a:pPr algn="ctr" eaLnBrk="1" hangingPunct="1"/>
            <a:r>
              <a:rPr lang="en-US" altLang="en-US" sz="1600" dirty="0">
                <a:latin typeface="Times New Roman" pitchFamily="18" charset="0"/>
                <a:cs typeface="Times New Roman" pitchFamily="18" charset="0"/>
              </a:rPr>
              <a:t>on</a:t>
            </a:r>
          </a:p>
          <a:p>
            <a:pPr algn="ctr">
              <a:lnSpc>
                <a:spcPct val="107000"/>
              </a:lnSpc>
              <a:tabLst>
                <a:tab pos="2238375" algn="l"/>
              </a:tabLst>
            </a:pPr>
            <a:r>
              <a:rPr lang="en-US" altLang="en-US" b="1" dirty="0">
                <a:latin typeface="Times New Roman" pitchFamily="18" charset="0"/>
                <a:cs typeface="Times New Roman" pitchFamily="18" charset="0"/>
              </a:rPr>
              <a:t>                          "</a:t>
            </a:r>
            <a:r>
              <a:rPr lang="en-US" altLang="en-US" b="1" dirty="0" err="1">
                <a:latin typeface="Times New Roman" pitchFamily="18" charset="0"/>
                <a:cs typeface="Times New Roman" pitchFamily="18" charset="0"/>
              </a:rPr>
              <a:t>AgriSense</a:t>
            </a:r>
            <a:r>
              <a:rPr lang="en-US" altLang="en-US" b="1" dirty="0">
                <a:latin typeface="Times New Roman" pitchFamily="18" charset="0"/>
                <a:cs typeface="Times New Roman" pitchFamily="18" charset="0"/>
              </a:rPr>
              <a:t>: Geo-Location Based Soil &amp; Climate Alerts for Agriculture</a:t>
            </a:r>
          </a:p>
          <a:p>
            <a:pPr algn="ctr">
              <a:lnSpc>
                <a:spcPct val="107000"/>
              </a:lnSpc>
              <a:tabLst>
                <a:tab pos="2238375" algn="l"/>
              </a:tabLst>
            </a:pPr>
            <a:endParaRPr lang="en-US" altLang="en-US" dirty="0">
              <a:latin typeface="Times New Roman" pitchFamily="18" charset="0"/>
              <a:cs typeface="Times New Roman" pitchFamily="18" charset="0"/>
            </a:endParaRPr>
          </a:p>
          <a:p>
            <a:pPr algn="ctr" eaLnBrk="1" hangingPunct="1"/>
            <a:r>
              <a:rPr lang="en-US" altLang="en-US" b="1" dirty="0">
                <a:latin typeface="Times New Roman" pitchFamily="18" charset="0"/>
                <a:cs typeface="Times New Roman" pitchFamily="18" charset="0"/>
              </a:rPr>
              <a:t>Presented by : </a:t>
            </a:r>
          </a:p>
          <a:p>
            <a:pPr algn="ctr" eaLnBrk="1" hangingPunct="1"/>
            <a:r>
              <a:rPr lang="en-US" altLang="en-US" sz="1600" dirty="0">
                <a:latin typeface="Times New Roman" pitchFamily="18" charset="0"/>
                <a:cs typeface="Times New Roman" pitchFamily="18" charset="0"/>
              </a:rPr>
              <a:t>Mr. Harsh D. Meshram</a:t>
            </a:r>
          </a:p>
          <a:p>
            <a:pPr algn="ctr" eaLnBrk="1" hangingPunct="1"/>
            <a:r>
              <a:rPr lang="en-US" altLang="en-US" sz="1600" dirty="0">
                <a:latin typeface="Times New Roman" pitchFamily="18" charset="0"/>
                <a:cs typeface="Times New Roman" pitchFamily="18" charset="0"/>
              </a:rPr>
              <a:t>Mr. Rohit R. Meshram</a:t>
            </a:r>
          </a:p>
          <a:p>
            <a:pPr algn="ctr" eaLnBrk="1" hangingPunct="1"/>
            <a:r>
              <a:rPr lang="en-US" altLang="en-US" sz="1600" dirty="0">
                <a:latin typeface="Times New Roman" pitchFamily="18" charset="0"/>
                <a:cs typeface="Times New Roman" pitchFamily="18" charset="0"/>
              </a:rPr>
              <a:t>Mr. Sarvesh B. Dahake</a:t>
            </a:r>
            <a:endParaRPr lang="en-IN" sz="1800" b="1" dirty="0">
              <a:effectLst/>
              <a:latin typeface="Times New Roman" panose="02020603050405020304" pitchFamily="18" charset="0"/>
              <a:ea typeface="Calibri" panose="020F0502020204030204" pitchFamily="34" charset="0"/>
            </a:endParaRPr>
          </a:p>
          <a:p>
            <a:pPr algn="ctr" eaLnBrk="1" hangingPunct="1"/>
            <a:r>
              <a:rPr lang="en-US" altLang="en-US" sz="1600" dirty="0">
                <a:latin typeface="Times New Roman" pitchFamily="18" charset="0"/>
                <a:cs typeface="Times New Roman" pitchFamily="18" charset="0"/>
              </a:rPr>
              <a:t>Mr. Vaibhav D. </a:t>
            </a:r>
            <a:r>
              <a:rPr lang="en-US" altLang="en-US" sz="1600" dirty="0" err="1">
                <a:latin typeface="Times New Roman" pitchFamily="18" charset="0"/>
                <a:cs typeface="Times New Roman" pitchFamily="18" charset="0"/>
              </a:rPr>
              <a:t>Charpate</a:t>
            </a:r>
            <a:endParaRPr lang="en-US" altLang="en-US" sz="1600" dirty="0">
              <a:latin typeface="Times New Roman" pitchFamily="18" charset="0"/>
              <a:cs typeface="Times New Roman" pitchFamily="18" charset="0"/>
            </a:endParaRPr>
          </a:p>
          <a:p>
            <a:pPr algn="ctr" eaLnBrk="1" hangingPunct="1"/>
            <a:r>
              <a:rPr lang="en-US" altLang="en-US" sz="1600" dirty="0">
                <a:latin typeface="Times New Roman" pitchFamily="18" charset="0"/>
                <a:cs typeface="Times New Roman" pitchFamily="18" charset="0"/>
              </a:rPr>
              <a:t>Miss. Vidhi A. Rone</a:t>
            </a:r>
          </a:p>
          <a:p>
            <a:pPr algn="ctr" eaLnBrk="1" hangingPunct="1"/>
            <a:endParaRPr lang="en-US" altLang="en-US" sz="1600" dirty="0">
              <a:latin typeface="Times New Roman" pitchFamily="18" charset="0"/>
              <a:cs typeface="Times New Roman" pitchFamily="18" charset="0"/>
            </a:endParaRPr>
          </a:p>
          <a:p>
            <a:pPr algn="ctr" eaLnBrk="1" hangingPunct="1"/>
            <a:r>
              <a:rPr lang="en-US" altLang="en-US" dirty="0">
                <a:latin typeface="Times New Roman" pitchFamily="18" charset="0"/>
                <a:cs typeface="Times New Roman" pitchFamily="18" charset="0"/>
              </a:rPr>
              <a:t>(B. Tech ENTC Final Year Sec A )</a:t>
            </a:r>
          </a:p>
          <a:p>
            <a:pPr algn="ctr" eaLnBrk="1" hangingPunct="1"/>
            <a:endParaRPr lang="en-US" altLang="en-US" dirty="0">
              <a:latin typeface="Times New Roman" pitchFamily="18" charset="0"/>
              <a:cs typeface="Times New Roman" pitchFamily="18" charset="0"/>
            </a:endParaRPr>
          </a:p>
          <a:p>
            <a:pPr algn="ctr" eaLnBrk="1" hangingPunct="1"/>
            <a:r>
              <a:rPr lang="en-US" altLang="en-US" dirty="0">
                <a:latin typeface="Times New Roman" pitchFamily="18" charset="0"/>
                <a:cs typeface="Times New Roman" pitchFamily="18" charset="0"/>
              </a:rPr>
              <a:t>Under the Guidance of </a:t>
            </a:r>
          </a:p>
          <a:p>
            <a:pPr algn="ctr"/>
            <a:r>
              <a:rPr lang="en-US" altLang="en-US" sz="1600" dirty="0">
                <a:latin typeface="Times New Roman" pitchFamily="18" charset="0"/>
                <a:cs typeface="Times New Roman" pitchFamily="18" charset="0"/>
              </a:rPr>
              <a:t>Dr. Shrikant </a:t>
            </a:r>
            <a:r>
              <a:rPr lang="en-US" altLang="en-US" sz="1600" dirty="0" err="1">
                <a:latin typeface="Times New Roman" pitchFamily="18" charset="0"/>
                <a:cs typeface="Times New Roman" pitchFamily="18" charset="0"/>
              </a:rPr>
              <a:t>Chavate</a:t>
            </a:r>
            <a:endParaRPr lang="en-US" altLang="en-US" sz="1600" dirty="0">
              <a:latin typeface="Times New Roman" pitchFamily="18" charset="0"/>
              <a:cs typeface="Times New Roman" pitchFamily="18" charset="0"/>
            </a:endParaRPr>
          </a:p>
          <a:p>
            <a:pPr algn="ctr"/>
            <a:endParaRPr lang="en-US" altLang="en-US" dirty="0">
              <a:latin typeface="Times New Roman" pitchFamily="18" charset="0"/>
              <a:cs typeface="Times New Roman" pitchFamily="18" charset="0"/>
            </a:endParaRPr>
          </a:p>
          <a:p>
            <a:pPr algn="ctr"/>
            <a:r>
              <a:rPr lang="en-US" altLang="en-US" sz="1600" b="1" dirty="0">
                <a:latin typeface="Times New Roman" pitchFamily="18" charset="0"/>
                <a:cs typeface="Times New Roman" pitchFamily="18" charset="0"/>
              </a:rPr>
              <a:t>Department of Electronics &amp; Telecommunication  Engineering </a:t>
            </a:r>
          </a:p>
          <a:p>
            <a:pPr algn="ctr"/>
            <a:r>
              <a:rPr lang="en-US" altLang="en-US" sz="1600" b="1" dirty="0">
                <a:latin typeface="Times New Roman" pitchFamily="18" charset="0"/>
                <a:cs typeface="Times New Roman" pitchFamily="18" charset="0"/>
              </a:rPr>
              <a:t>G H Raisoni University, Amravati</a:t>
            </a:r>
          </a:p>
          <a:p>
            <a:pPr algn="ctr" eaLnBrk="1" hangingPunct="1"/>
            <a:r>
              <a:rPr lang="en-US" altLang="en-US" sz="1600" b="1" dirty="0">
                <a:latin typeface="Times New Roman" pitchFamily="18" charset="0"/>
                <a:cs typeface="Times New Roman" pitchFamily="18" charset="0"/>
              </a:rPr>
              <a:t>Academic Session: 2025-26</a:t>
            </a:r>
            <a:endParaRPr lang="en-US" sz="1000" dirty="0"/>
          </a:p>
        </p:txBody>
      </p:sp>
      <p:pic>
        <p:nvPicPr>
          <p:cNvPr id="1026"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1755" y="44645"/>
            <a:ext cx="1791942" cy="6522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6"/>
          <p:cNvSpPr/>
          <p:nvPr/>
        </p:nvSpPr>
        <p:spPr>
          <a:xfrm>
            <a:off x="-25" y="4917825"/>
            <a:ext cx="9144000" cy="2256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Rectangle 8"/>
          <p:cNvSpPr/>
          <p:nvPr/>
        </p:nvSpPr>
        <p:spPr>
          <a:xfrm>
            <a:off x="1646423" y="11382"/>
            <a:ext cx="4953160" cy="5262979"/>
          </a:xfrm>
          <a:prstGeom prst="rect">
            <a:avLst/>
          </a:prstGeom>
        </p:spPr>
        <p:txBody>
          <a:bodyPr wrap="square">
            <a:spAutoFit/>
          </a:bodyPr>
          <a:lstStyle/>
          <a:p>
            <a:pPr>
              <a:defRPr/>
            </a:pPr>
            <a:r>
              <a:rPr lang="en-US" sz="2400" b="1" dirty="0">
                <a:solidFill>
                  <a:schemeClr val="tx1"/>
                </a:solidFill>
                <a:latin typeface="Montserrat"/>
                <a:ea typeface="Montserrat"/>
                <a:cs typeface="Montserrat"/>
                <a:sym typeface="Montserrat"/>
              </a:rPr>
              <a:t>INDEX</a:t>
            </a:r>
          </a:p>
          <a:p>
            <a:pPr>
              <a:defRPr/>
            </a:pPr>
            <a:endParaRPr lang="en-US" sz="2400" b="1" dirty="0">
              <a:solidFill>
                <a:schemeClr val="tx1"/>
              </a:solidFill>
              <a:latin typeface="Times New Roman" pitchFamily="18" charset="0"/>
              <a:cs typeface="Times New Roman" pitchFamily="18" charset="0"/>
            </a:endParaRPr>
          </a:p>
          <a:p>
            <a:pPr marL="457200" indent="-457200" eaLnBrk="1" hangingPunct="1">
              <a:lnSpc>
                <a:spcPct val="150000"/>
              </a:lnSpc>
              <a:buFont typeface="Wingdings" panose="05000000000000000000" pitchFamily="2" charset="2"/>
              <a:buChar char="Ø"/>
              <a:defRPr/>
            </a:pPr>
            <a:r>
              <a:rPr lang="en-IN" sz="1600" dirty="0">
                <a:solidFill>
                  <a:schemeClr val="tx1"/>
                </a:solidFill>
                <a:latin typeface="Montserrat"/>
                <a:ea typeface="Montserrat"/>
                <a:cs typeface="Montserrat"/>
                <a:sym typeface="Montserrat"/>
              </a:rPr>
              <a:t>Abstract</a:t>
            </a:r>
          </a:p>
          <a:p>
            <a:pPr marL="457200" indent="-457200" eaLnBrk="1" hangingPunct="1">
              <a:lnSpc>
                <a:spcPct val="150000"/>
              </a:lnSpc>
              <a:buFont typeface="Wingdings" panose="05000000000000000000" pitchFamily="2" charset="2"/>
              <a:buChar char="Ø"/>
              <a:defRPr/>
            </a:pPr>
            <a:r>
              <a:rPr lang="en-US" sz="1600" dirty="0">
                <a:solidFill>
                  <a:schemeClr val="tx1"/>
                </a:solidFill>
                <a:latin typeface="Montserrat"/>
                <a:ea typeface="Montserrat"/>
                <a:cs typeface="Montserrat"/>
                <a:sym typeface="Montserrat"/>
              </a:rPr>
              <a:t>Introduction</a:t>
            </a:r>
          </a:p>
          <a:p>
            <a:pPr marL="457200" indent="-457200" eaLnBrk="1" hangingPunct="1">
              <a:lnSpc>
                <a:spcPct val="150000"/>
              </a:lnSpc>
              <a:buFont typeface="Wingdings" panose="05000000000000000000" pitchFamily="2" charset="2"/>
              <a:buChar char="Ø"/>
              <a:defRPr/>
            </a:pPr>
            <a:r>
              <a:rPr lang="en-US" sz="1600" dirty="0">
                <a:solidFill>
                  <a:schemeClr val="tx1"/>
                </a:solidFill>
                <a:latin typeface="Montserrat"/>
                <a:ea typeface="Montserrat"/>
                <a:cs typeface="Montserrat"/>
                <a:sym typeface="Montserrat"/>
              </a:rPr>
              <a:t>Objectives</a:t>
            </a:r>
          </a:p>
          <a:p>
            <a:pPr marL="457200" indent="-457200">
              <a:lnSpc>
                <a:spcPct val="150000"/>
              </a:lnSpc>
              <a:buFont typeface="Wingdings" panose="05000000000000000000" pitchFamily="2" charset="2"/>
              <a:buChar char="Ø"/>
              <a:defRPr/>
            </a:pPr>
            <a:r>
              <a:rPr lang="en-US" sz="1600" dirty="0">
                <a:solidFill>
                  <a:schemeClr val="tx1"/>
                </a:solidFill>
                <a:latin typeface="Montserrat"/>
                <a:ea typeface="Montserrat"/>
                <a:cs typeface="Montserrat"/>
                <a:sym typeface="Montserrat"/>
              </a:rPr>
              <a:t>Literature Review</a:t>
            </a:r>
          </a:p>
          <a:p>
            <a:pPr marL="457200" indent="-457200" eaLnBrk="1" hangingPunct="1">
              <a:lnSpc>
                <a:spcPct val="150000"/>
              </a:lnSpc>
              <a:buFont typeface="Wingdings" panose="05000000000000000000" pitchFamily="2" charset="2"/>
              <a:buChar char="Ø"/>
              <a:defRPr/>
            </a:pPr>
            <a:r>
              <a:rPr lang="en-US" sz="1600" dirty="0">
                <a:solidFill>
                  <a:schemeClr val="tx1"/>
                </a:solidFill>
                <a:latin typeface="Montserrat"/>
                <a:ea typeface="Montserrat"/>
                <a:cs typeface="Montserrat"/>
                <a:sym typeface="Montserrat"/>
              </a:rPr>
              <a:t>Problem Statement</a:t>
            </a:r>
          </a:p>
          <a:p>
            <a:pPr marL="457200" indent="-457200">
              <a:lnSpc>
                <a:spcPct val="150000"/>
              </a:lnSpc>
              <a:buFont typeface="Wingdings" panose="05000000000000000000" pitchFamily="2" charset="2"/>
              <a:buChar char="Ø"/>
              <a:defRPr/>
            </a:pPr>
            <a:r>
              <a:rPr lang="en-US" sz="1600" dirty="0">
                <a:solidFill>
                  <a:schemeClr val="tx1"/>
                </a:solidFill>
                <a:latin typeface="Montserrat"/>
                <a:ea typeface="Montserrat"/>
                <a:cs typeface="Montserrat"/>
                <a:sym typeface="Montserrat"/>
              </a:rPr>
              <a:t>Proposed System</a:t>
            </a:r>
          </a:p>
          <a:p>
            <a:pPr marL="457200" indent="-457200">
              <a:lnSpc>
                <a:spcPct val="150000"/>
              </a:lnSpc>
              <a:buFont typeface="Wingdings" panose="05000000000000000000" pitchFamily="2" charset="2"/>
              <a:buChar char="Ø"/>
              <a:defRPr/>
            </a:pPr>
            <a:r>
              <a:rPr lang="en-US" sz="1600" dirty="0">
                <a:solidFill>
                  <a:schemeClr val="tx1"/>
                </a:solidFill>
                <a:latin typeface="Montserrat"/>
                <a:ea typeface="Montserrat"/>
                <a:cs typeface="Montserrat"/>
                <a:sym typeface="Montserrat"/>
              </a:rPr>
              <a:t>Methodology</a:t>
            </a:r>
          </a:p>
          <a:p>
            <a:pPr marL="457200" indent="-457200">
              <a:lnSpc>
                <a:spcPct val="150000"/>
              </a:lnSpc>
              <a:buFont typeface="Wingdings" panose="05000000000000000000" pitchFamily="2" charset="2"/>
              <a:buChar char="Ø"/>
              <a:defRPr/>
            </a:pPr>
            <a:r>
              <a:rPr lang="en-US" sz="1600" dirty="0">
                <a:solidFill>
                  <a:schemeClr val="tx1"/>
                </a:solidFill>
                <a:latin typeface="Montserrat"/>
                <a:ea typeface="Montserrat"/>
                <a:cs typeface="Montserrat"/>
                <a:sym typeface="Montserrat"/>
              </a:rPr>
              <a:t>Modules Description</a:t>
            </a:r>
          </a:p>
          <a:p>
            <a:pPr marL="457200" indent="-457200">
              <a:lnSpc>
                <a:spcPct val="150000"/>
              </a:lnSpc>
              <a:buFont typeface="Wingdings" panose="05000000000000000000" pitchFamily="2" charset="2"/>
              <a:buChar char="Ø"/>
              <a:defRPr/>
            </a:pPr>
            <a:r>
              <a:rPr lang="en-US" sz="1600" dirty="0">
                <a:solidFill>
                  <a:schemeClr val="tx1"/>
                </a:solidFill>
                <a:latin typeface="Montserrat"/>
                <a:ea typeface="Montserrat"/>
                <a:cs typeface="Montserrat"/>
                <a:sym typeface="Montserrat"/>
              </a:rPr>
              <a:t>Expected Outcomes</a:t>
            </a:r>
          </a:p>
          <a:p>
            <a:pPr marL="457200" indent="-457200">
              <a:lnSpc>
                <a:spcPct val="150000"/>
              </a:lnSpc>
              <a:buFont typeface="Wingdings" panose="05000000000000000000" pitchFamily="2" charset="2"/>
              <a:buChar char="Ø"/>
              <a:defRPr/>
            </a:pPr>
            <a:r>
              <a:rPr lang="en-US" sz="1600" dirty="0">
                <a:solidFill>
                  <a:schemeClr val="tx1"/>
                </a:solidFill>
                <a:latin typeface="Montserrat"/>
                <a:ea typeface="Montserrat"/>
                <a:cs typeface="Montserrat"/>
                <a:sym typeface="Montserrat"/>
              </a:rPr>
              <a:t>Conclusion</a:t>
            </a:r>
          </a:p>
          <a:p>
            <a:pPr marL="457200" indent="-457200">
              <a:lnSpc>
                <a:spcPct val="150000"/>
              </a:lnSpc>
              <a:buFont typeface="Wingdings" panose="05000000000000000000" pitchFamily="2" charset="2"/>
              <a:buChar char="Ø"/>
              <a:defRPr/>
            </a:pPr>
            <a:r>
              <a:rPr lang="en-IN" sz="1600" dirty="0">
                <a:solidFill>
                  <a:schemeClr val="tx1"/>
                </a:solidFill>
                <a:latin typeface="Montserrat"/>
                <a:ea typeface="Montserrat"/>
                <a:cs typeface="Montserrat"/>
                <a:sym typeface="Montserrat"/>
              </a:rPr>
              <a:t>References </a:t>
            </a:r>
          </a:p>
          <a:p>
            <a:pPr>
              <a:defRPr/>
            </a:pPr>
            <a:endParaRPr lang="en-US" sz="2400" b="1" dirty="0">
              <a:solidFill>
                <a:schemeClr val="tx1"/>
              </a:solidFill>
              <a:latin typeface="Times New Roman" pitchFamily="18" charset="0"/>
              <a:cs typeface="Times New Roman" pitchFamily="18" charset="0"/>
            </a:endParaRPr>
          </a:p>
        </p:txBody>
      </p:sp>
      <p:pic>
        <p:nvPicPr>
          <p:cNvPr id="7"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7"/>
          <p:cNvSpPr/>
          <p:nvPr/>
        </p:nvSpPr>
        <p:spPr>
          <a:xfrm>
            <a:off x="21425" y="1721850"/>
            <a:ext cx="9122100" cy="16998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7"/>
          <p:cNvSpPr txBox="1">
            <a:spLocks noGrp="1"/>
          </p:cNvSpPr>
          <p:nvPr>
            <p:ph type="title"/>
          </p:nvPr>
        </p:nvSpPr>
        <p:spPr>
          <a:xfrm>
            <a:off x="2226125" y="2190900"/>
            <a:ext cx="4698300" cy="761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b="1" dirty="0">
                <a:solidFill>
                  <a:schemeClr val="lt1"/>
                </a:solidFill>
                <a:latin typeface="Montserrat"/>
                <a:ea typeface="Montserrat"/>
                <a:cs typeface="Montserrat"/>
                <a:sym typeface="Montserrat"/>
              </a:rPr>
              <a:t>ABSTRACT</a:t>
            </a:r>
            <a:endParaRPr b="1" dirty="0">
              <a:solidFill>
                <a:schemeClr val="lt1"/>
              </a:solidFill>
              <a:latin typeface="Montserrat"/>
              <a:ea typeface="Montserrat"/>
              <a:cs typeface="Montserrat"/>
              <a:sym typeface="Montserrat"/>
            </a:endParaRPr>
          </a:p>
        </p:txBody>
      </p:sp>
      <p:pic>
        <p:nvPicPr>
          <p:cNvPr id="7"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9"/>
          <p:cNvSpPr txBox="1">
            <a:spLocks noGrp="1"/>
          </p:cNvSpPr>
          <p:nvPr>
            <p:ph type="title" idx="4294967295"/>
          </p:nvPr>
        </p:nvSpPr>
        <p:spPr>
          <a:xfrm>
            <a:off x="1101150" y="157306"/>
            <a:ext cx="3470825" cy="761700"/>
          </a:xfrm>
          <a:prstGeom prst="rect">
            <a:avLst/>
          </a:prstGeom>
        </p:spPr>
        <p:txBody>
          <a:bodyPr spcFirstLastPara="1" wrap="square" lIns="91425" tIns="91425" rIns="91425" bIns="91425" anchor="ctr" anchorCtr="0">
            <a:normAutofit/>
          </a:bodyPr>
          <a:lstStyle/>
          <a:p>
            <a:pPr lvl="0"/>
            <a:r>
              <a:rPr lang="en-US" b="1" dirty="0">
                <a:solidFill>
                  <a:schemeClr val="tx1"/>
                </a:solidFill>
                <a:latin typeface="Montserrat"/>
                <a:ea typeface="Montserrat"/>
                <a:cs typeface="Montserrat"/>
                <a:sym typeface="Montserrat"/>
              </a:rPr>
              <a:t>ABSTRACT</a:t>
            </a:r>
            <a:endParaRPr b="1" dirty="0">
              <a:solidFill>
                <a:schemeClr val="tx1"/>
              </a:solidFill>
              <a:latin typeface="Montserrat"/>
              <a:ea typeface="Montserrat"/>
              <a:cs typeface="Montserrat"/>
              <a:sym typeface="Montserrat"/>
            </a:endParaRPr>
          </a:p>
        </p:txBody>
      </p:sp>
      <p:sp>
        <p:nvSpPr>
          <p:cNvPr id="116" name="Google Shape;116;p19"/>
          <p:cNvSpPr txBox="1">
            <a:spLocks noGrp="1"/>
          </p:cNvSpPr>
          <p:nvPr>
            <p:ph type="body" idx="4294967295"/>
          </p:nvPr>
        </p:nvSpPr>
        <p:spPr>
          <a:xfrm>
            <a:off x="1286254" y="1029672"/>
            <a:ext cx="6468399" cy="2015935"/>
          </a:xfrm>
          <a:prstGeom prst="rect">
            <a:avLst/>
          </a:prstGeom>
        </p:spPr>
        <p:txBody>
          <a:bodyPr spcFirstLastPara="1" wrap="square" lIns="91425" tIns="91425" rIns="91425" bIns="91425" anchor="t" anchorCtr="0">
            <a:noAutofit/>
          </a:bodyPr>
          <a:lstStyle/>
          <a:p>
            <a:pPr marL="0" lvl="0" indent="0" algn="just">
              <a:spcAft>
                <a:spcPts val="1200"/>
              </a:spcAft>
              <a:buNone/>
            </a:pPr>
            <a:r>
              <a:rPr lang="en-US" sz="1400" dirty="0" err="1">
                <a:solidFill>
                  <a:schemeClr val="tx1"/>
                </a:solidFill>
              </a:rPr>
              <a:t>AgriSense</a:t>
            </a:r>
            <a:r>
              <a:rPr lang="en-US" sz="1400" dirty="0">
                <a:solidFill>
                  <a:schemeClr val="tx1"/>
                </a:solidFill>
              </a:rPr>
              <a:t> is an innovative agriculture platform that provides farmers with real-time, location-based soil and climate alerts. Using geo-location and weather data integration, it tracks key environmental parameters such as temperature, humidity, and rainfall for specific farming areas. The system analyzes this information to deliver location-specific recommendations for irrigation, crop care, and harvesting. By offering timely insights, </a:t>
            </a:r>
            <a:r>
              <a:rPr lang="en-US" sz="1400" dirty="0" err="1">
                <a:solidFill>
                  <a:schemeClr val="tx1"/>
                </a:solidFill>
              </a:rPr>
              <a:t>AgriSense</a:t>
            </a:r>
            <a:r>
              <a:rPr lang="en-US" sz="1400" dirty="0">
                <a:solidFill>
                  <a:schemeClr val="tx1"/>
                </a:solidFill>
              </a:rPr>
              <a:t> helps optimize resource usage, improve productivity, and reduce the risks posed by adverse weather. It supports sustainable and climate-smart farming practices for better agricultural outcomes.</a:t>
            </a:r>
            <a:endParaRPr sz="1400" dirty="0">
              <a:solidFill>
                <a:schemeClr val="tx1"/>
              </a:solidFill>
              <a:latin typeface="+mn-lt"/>
              <a:ea typeface="Montserrat"/>
              <a:cs typeface="Times New Roman" panose="02020603050405020304" pitchFamily="18" charset="0"/>
              <a:sym typeface="Montserrat"/>
            </a:endParaRPr>
          </a:p>
        </p:txBody>
      </p:sp>
      <p:sp>
        <p:nvSpPr>
          <p:cNvPr id="120" name="Google Shape;120;p19"/>
          <p:cNvSpPr/>
          <p:nvPr/>
        </p:nvSpPr>
        <p:spPr>
          <a:xfrm>
            <a:off x="-25" y="4917825"/>
            <a:ext cx="9144000" cy="2256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7">
            <a:extLst>
              <a:ext uri="{FF2B5EF4-FFF2-40B4-BE49-F238E27FC236}">
                <a16:creationId xmlns:a16="http://schemas.microsoft.com/office/drawing/2014/main" id="{EBB7BBAE-E1AB-5BAD-C665-0F0239617089}"/>
              </a:ext>
            </a:extLst>
          </p:cNvPr>
          <p:cNvSpPr>
            <a:spLocks noChangeArrowheads="1"/>
          </p:cNvSpPr>
          <p:nvPr/>
        </p:nvSpPr>
        <p:spPr bwMode="auto">
          <a:xfrm>
            <a:off x="1750737" y="3025043"/>
            <a:ext cx="6311591" cy="2000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Geo-location based system providing real-time soil and climate alerts.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Uses weather data and location tracking for precise monitoring.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Tracks parameters like temperature, humidity, and rainfall.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Offers location-specific recommendations for farm activities.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Helps farmers optimize resources and improve yield.</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Promotes sustainable and climate-smart agriculture</a:t>
            </a:r>
            <a:r>
              <a:rPr kumimoji="0" lang="en-US" altLang="en-US" sz="180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7"/>
          <p:cNvSpPr/>
          <p:nvPr/>
        </p:nvSpPr>
        <p:spPr>
          <a:xfrm>
            <a:off x="14225" y="1721850"/>
            <a:ext cx="9122100" cy="16998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7"/>
          <p:cNvSpPr txBox="1">
            <a:spLocks noGrp="1"/>
          </p:cNvSpPr>
          <p:nvPr>
            <p:ph type="title"/>
          </p:nvPr>
        </p:nvSpPr>
        <p:spPr>
          <a:xfrm>
            <a:off x="2226125" y="2190900"/>
            <a:ext cx="4698300" cy="761700"/>
          </a:xfrm>
          <a:prstGeom prst="rect">
            <a:avLst/>
          </a:prstGeom>
        </p:spPr>
        <p:txBody>
          <a:bodyPr spcFirstLastPara="1" wrap="square" lIns="91425" tIns="91425" rIns="91425" bIns="91425" anchor="ctr" anchorCtr="0">
            <a:normAutofit/>
          </a:bodyPr>
          <a:lstStyle/>
          <a:p>
            <a:pPr algn="ctr"/>
            <a:r>
              <a:rPr lang="en-US" b="1" dirty="0">
                <a:solidFill>
                  <a:schemeClr val="bg1"/>
                </a:solidFill>
                <a:latin typeface="Montserrat"/>
                <a:ea typeface="Montserrat"/>
                <a:cs typeface="Montserrat"/>
                <a:sym typeface="Montserrat"/>
              </a:rPr>
              <a:t>INTRODUCTION</a:t>
            </a:r>
          </a:p>
        </p:txBody>
      </p:sp>
      <p:pic>
        <p:nvPicPr>
          <p:cNvPr id="7"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9"/>
          <p:cNvSpPr txBox="1">
            <a:spLocks noGrp="1"/>
          </p:cNvSpPr>
          <p:nvPr>
            <p:ph type="title" idx="4294967295"/>
          </p:nvPr>
        </p:nvSpPr>
        <p:spPr>
          <a:xfrm>
            <a:off x="1405975" y="445025"/>
            <a:ext cx="3315600" cy="761700"/>
          </a:xfrm>
          <a:prstGeom prst="rect">
            <a:avLst/>
          </a:prstGeom>
        </p:spPr>
        <p:txBody>
          <a:bodyPr spcFirstLastPara="1" wrap="square" lIns="91425" tIns="91425" rIns="91425" bIns="91425" anchor="ctr" anchorCtr="0">
            <a:normAutofit/>
          </a:bodyPr>
          <a:lstStyle/>
          <a:p>
            <a:pPr lvl="0"/>
            <a:r>
              <a:rPr lang="en-US" b="1" dirty="0">
                <a:solidFill>
                  <a:schemeClr val="tx1"/>
                </a:solidFill>
                <a:latin typeface="Montserrat"/>
                <a:ea typeface="Montserrat"/>
                <a:cs typeface="Montserrat"/>
                <a:sym typeface="Montserrat"/>
              </a:rPr>
              <a:t>Introduction</a:t>
            </a:r>
            <a:endParaRPr b="1" dirty="0">
              <a:solidFill>
                <a:schemeClr val="tx1"/>
              </a:solidFill>
              <a:latin typeface="Montserrat"/>
              <a:ea typeface="Montserrat"/>
              <a:cs typeface="Montserrat"/>
              <a:sym typeface="Montserrat"/>
            </a:endParaRPr>
          </a:p>
        </p:txBody>
      </p:sp>
      <p:sp>
        <p:nvSpPr>
          <p:cNvPr id="116" name="Google Shape;116;p19"/>
          <p:cNvSpPr txBox="1">
            <a:spLocks noGrp="1"/>
          </p:cNvSpPr>
          <p:nvPr>
            <p:ph type="body" idx="4294967295"/>
          </p:nvPr>
        </p:nvSpPr>
        <p:spPr>
          <a:xfrm>
            <a:off x="1487875" y="1137424"/>
            <a:ext cx="6467400" cy="2781476"/>
          </a:xfrm>
          <a:prstGeom prst="rect">
            <a:avLst/>
          </a:prstGeom>
        </p:spPr>
        <p:txBody>
          <a:bodyPr spcFirstLastPara="1" wrap="square" lIns="91425" tIns="91425" rIns="91425" bIns="91425" anchor="t" anchorCtr="0">
            <a:normAutofit/>
          </a:bodyPr>
          <a:lstStyle/>
          <a:p>
            <a:pPr marL="0" lvl="0" indent="0" algn="just">
              <a:spcAft>
                <a:spcPts val="1200"/>
              </a:spcAft>
              <a:buNone/>
            </a:pPr>
            <a:r>
              <a:rPr lang="en-US" sz="1400" dirty="0" err="1">
                <a:solidFill>
                  <a:schemeClr val="tx1"/>
                </a:solidFill>
              </a:rPr>
              <a:t>AgriSense</a:t>
            </a:r>
            <a:r>
              <a:rPr lang="en-US" sz="1400" dirty="0">
                <a:solidFill>
                  <a:schemeClr val="tx1"/>
                </a:solidFill>
              </a:rPr>
              <a:t> is a modern agriculture support system that leverages geo-location technology and weather data to assist farmers in making timely and informed decisions. The platform collects and processes real-time environmental information such as temperature, humidity, and rainfall for specific farming locations. By analyzing this data, </a:t>
            </a:r>
            <a:r>
              <a:rPr lang="en-US" sz="1400" dirty="0" err="1">
                <a:solidFill>
                  <a:schemeClr val="tx1"/>
                </a:solidFill>
              </a:rPr>
              <a:t>AgriSense</a:t>
            </a:r>
            <a:r>
              <a:rPr lang="en-US" sz="1400" dirty="0">
                <a:solidFill>
                  <a:schemeClr val="tx1"/>
                </a:solidFill>
              </a:rPr>
              <a:t> generates location-specific alerts and recommendations that help in planning irrigation, fertilization, and other agricultural activities. </a:t>
            </a:r>
            <a:endParaRPr lang="en-GB" sz="1400" dirty="0">
              <a:solidFill>
                <a:schemeClr val="tx1"/>
              </a:solidFill>
              <a:latin typeface="+mn-lt"/>
              <a:ea typeface="Montserrat"/>
              <a:cs typeface="Times New Roman" panose="02020603050405020304" pitchFamily="18" charset="0"/>
              <a:sym typeface="Montserrat"/>
            </a:endParaRPr>
          </a:p>
        </p:txBody>
      </p:sp>
      <p:sp>
        <p:nvSpPr>
          <p:cNvPr id="120" name="Google Shape;120;p19"/>
          <p:cNvSpPr/>
          <p:nvPr/>
        </p:nvSpPr>
        <p:spPr>
          <a:xfrm>
            <a:off x="-25" y="4917825"/>
            <a:ext cx="9144000" cy="2256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7"/>
          <p:cNvSpPr/>
          <p:nvPr/>
        </p:nvSpPr>
        <p:spPr>
          <a:xfrm>
            <a:off x="14225" y="1721850"/>
            <a:ext cx="9122100" cy="16998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7"/>
          <p:cNvSpPr txBox="1">
            <a:spLocks noGrp="1"/>
          </p:cNvSpPr>
          <p:nvPr>
            <p:ph type="title"/>
          </p:nvPr>
        </p:nvSpPr>
        <p:spPr>
          <a:xfrm>
            <a:off x="2226125" y="2190900"/>
            <a:ext cx="4698300" cy="761700"/>
          </a:xfrm>
          <a:prstGeom prst="rect">
            <a:avLst/>
          </a:prstGeom>
        </p:spPr>
        <p:txBody>
          <a:bodyPr spcFirstLastPara="1" wrap="square" lIns="91425" tIns="91425" rIns="91425" bIns="91425" anchor="ctr" anchorCtr="0">
            <a:normAutofit/>
          </a:bodyPr>
          <a:lstStyle/>
          <a:p>
            <a:pPr lvl="0" algn="ctr"/>
            <a:r>
              <a:rPr lang="en-US" b="1" dirty="0">
                <a:solidFill>
                  <a:schemeClr val="bg1"/>
                </a:solidFill>
                <a:latin typeface="Montserrat"/>
                <a:ea typeface="Montserrat"/>
                <a:cs typeface="Montserrat"/>
                <a:sym typeface="Montserrat"/>
              </a:rPr>
              <a:t>OBJECTIVES</a:t>
            </a:r>
          </a:p>
        </p:txBody>
      </p:sp>
      <p:pic>
        <p:nvPicPr>
          <p:cNvPr id="7"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9"/>
          <p:cNvSpPr txBox="1">
            <a:spLocks noGrp="1"/>
          </p:cNvSpPr>
          <p:nvPr>
            <p:ph type="title" idx="4294967295"/>
          </p:nvPr>
        </p:nvSpPr>
        <p:spPr>
          <a:xfrm>
            <a:off x="1405975" y="445025"/>
            <a:ext cx="3315600" cy="761700"/>
          </a:xfrm>
          <a:prstGeom prst="rect">
            <a:avLst/>
          </a:prstGeom>
        </p:spPr>
        <p:txBody>
          <a:bodyPr spcFirstLastPara="1" wrap="square" lIns="91425" tIns="91425" rIns="91425" bIns="91425" anchor="ctr" anchorCtr="0">
            <a:normAutofit/>
          </a:bodyPr>
          <a:lstStyle/>
          <a:p>
            <a:pPr lvl="0"/>
            <a:r>
              <a:rPr lang="en-US" b="1" dirty="0">
                <a:solidFill>
                  <a:schemeClr val="tx1"/>
                </a:solidFill>
                <a:latin typeface="Montserrat"/>
                <a:ea typeface="Montserrat"/>
                <a:cs typeface="Montserrat"/>
                <a:sym typeface="Montserrat"/>
              </a:rPr>
              <a:t>Objectives</a:t>
            </a:r>
            <a:endParaRPr b="1" dirty="0">
              <a:solidFill>
                <a:schemeClr val="tx1"/>
              </a:solidFill>
              <a:latin typeface="Montserrat"/>
              <a:ea typeface="Montserrat"/>
              <a:cs typeface="Montserrat"/>
              <a:sym typeface="Montserrat"/>
            </a:endParaRPr>
          </a:p>
        </p:txBody>
      </p:sp>
      <p:sp>
        <p:nvSpPr>
          <p:cNvPr id="120" name="Google Shape;120;p19"/>
          <p:cNvSpPr/>
          <p:nvPr/>
        </p:nvSpPr>
        <p:spPr>
          <a:xfrm>
            <a:off x="-25" y="4917825"/>
            <a:ext cx="9144000" cy="2256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
            <a:extLst>
              <a:ext uri="{FF2B5EF4-FFF2-40B4-BE49-F238E27FC236}">
                <a16:creationId xmlns:a16="http://schemas.microsoft.com/office/drawing/2014/main" id="{74C9DEB9-E790-A391-CBC2-1E11884891F4}"/>
              </a:ext>
            </a:extLst>
          </p:cNvPr>
          <p:cNvSpPr>
            <a:spLocks noGrp="1" noChangeArrowheads="1"/>
          </p:cNvSpPr>
          <p:nvPr>
            <p:ph type="body" idx="4294967295"/>
          </p:nvPr>
        </p:nvSpPr>
        <p:spPr bwMode="auto">
          <a:xfrm>
            <a:off x="936625" y="1589039"/>
            <a:ext cx="698941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i="1" u="none" strike="noStrike" cap="none" normalizeH="0" baseline="0" dirty="0">
                <a:ln>
                  <a:noFill/>
                </a:ln>
                <a:solidFill>
                  <a:schemeClr val="tx1"/>
                </a:solidFill>
                <a:effectLst/>
                <a:latin typeface="Arial" panose="020B0604020202020204" pitchFamily="34" charset="0"/>
                <a:cs typeface="Arial" panose="020B0604020202020204" pitchFamily="34" charset="0"/>
              </a:rPr>
              <a:t>Geo-Location Based Soil &amp; Climate Alerts for Agriculture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400" dirty="0">
                <a:solidFill>
                  <a:schemeClr val="tx1"/>
                </a:solidFill>
                <a:latin typeface="Arial" panose="020B0604020202020204" pitchFamily="34" charset="0"/>
                <a:cs typeface="Arial" panose="020B0604020202020204" pitchFamily="34" charset="0"/>
              </a:rPr>
              <a:t>The main goals of This project are:</a:t>
            </a:r>
            <a:endParaRPr kumimoji="0" lang="en-US" altLang="en-US" sz="140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cs typeface="Arial" panose="020B0604020202020204" pitchFamily="34" charset="0"/>
              </a:rPr>
              <a:t>To provide real-time soil and climate alerts based on geo-location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cs typeface="Arial" panose="020B0604020202020204" pitchFamily="34" charset="0"/>
              </a:rPr>
              <a:t>To integrate weather data and location tracking for accurate agricultural planning.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cs typeface="Arial" panose="020B0604020202020204" pitchFamily="34" charset="0"/>
              </a:rPr>
              <a:t>To deliver location-specific recommendations for irrigation, crop care, and harvesting.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cs typeface="Arial" panose="020B0604020202020204" pitchFamily="34" charset="0"/>
              </a:rPr>
              <a:t>To help farmers optimize resource usage and reduce operational costs.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cs typeface="Arial" panose="020B0604020202020204" pitchFamily="34" charset="0"/>
              </a:rPr>
              <a:t>To increase crop yield by enabling timely decision-making.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cs typeface="Arial" panose="020B0604020202020204" pitchFamily="34" charset="0"/>
              </a:rPr>
              <a:t>To promote sustainable and climate-resilient farming practices.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7"/>
          <p:cNvSpPr/>
          <p:nvPr/>
        </p:nvSpPr>
        <p:spPr>
          <a:xfrm>
            <a:off x="14225" y="1721850"/>
            <a:ext cx="9122100" cy="16998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7"/>
          <p:cNvSpPr txBox="1">
            <a:spLocks noGrp="1"/>
          </p:cNvSpPr>
          <p:nvPr>
            <p:ph type="title"/>
          </p:nvPr>
        </p:nvSpPr>
        <p:spPr>
          <a:xfrm>
            <a:off x="2226125" y="2190900"/>
            <a:ext cx="4698300" cy="761700"/>
          </a:xfrm>
          <a:prstGeom prst="rect">
            <a:avLst/>
          </a:prstGeom>
        </p:spPr>
        <p:txBody>
          <a:bodyPr spcFirstLastPara="1" wrap="square" lIns="91425" tIns="91425" rIns="91425" bIns="91425" anchor="ctr" anchorCtr="0">
            <a:normAutofit/>
          </a:bodyPr>
          <a:lstStyle/>
          <a:p>
            <a:pPr lvl="0" algn="ctr"/>
            <a:r>
              <a:rPr lang="en-US" b="1" dirty="0">
                <a:solidFill>
                  <a:schemeClr val="lt1"/>
                </a:solidFill>
                <a:latin typeface="Montserrat"/>
                <a:ea typeface="Montserrat"/>
                <a:cs typeface="Montserrat"/>
                <a:sym typeface="Montserrat"/>
              </a:rPr>
              <a:t>LITERATURE REVIEW</a:t>
            </a:r>
          </a:p>
        </p:txBody>
      </p:sp>
      <p:pic>
        <p:nvPicPr>
          <p:cNvPr id="7"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9"/>
          <p:cNvSpPr txBox="1">
            <a:spLocks noGrp="1"/>
          </p:cNvSpPr>
          <p:nvPr>
            <p:ph type="title" idx="4294967295"/>
          </p:nvPr>
        </p:nvSpPr>
        <p:spPr>
          <a:xfrm>
            <a:off x="1405974" y="483420"/>
            <a:ext cx="3882121" cy="652227"/>
          </a:xfrm>
          <a:prstGeom prst="rect">
            <a:avLst/>
          </a:prstGeom>
        </p:spPr>
        <p:txBody>
          <a:bodyPr spcFirstLastPara="1" wrap="square" lIns="91425" tIns="91425" rIns="91425" bIns="91425" anchor="ctr" anchorCtr="0">
            <a:normAutofit/>
          </a:bodyPr>
          <a:lstStyle/>
          <a:p>
            <a:pPr lvl="0"/>
            <a:r>
              <a:rPr lang="en-US" b="1" dirty="0">
                <a:solidFill>
                  <a:schemeClr val="tx1"/>
                </a:solidFill>
                <a:latin typeface="Montserrat"/>
                <a:ea typeface="Montserrat"/>
                <a:cs typeface="Montserrat"/>
                <a:sym typeface="Montserrat"/>
              </a:rPr>
              <a:t>Literature Review</a:t>
            </a:r>
            <a:endParaRPr b="1" dirty="0">
              <a:solidFill>
                <a:schemeClr val="tx1"/>
              </a:solidFill>
              <a:latin typeface="Montserrat"/>
              <a:ea typeface="Montserrat"/>
              <a:cs typeface="Montserrat"/>
              <a:sym typeface="Montserrat"/>
            </a:endParaRPr>
          </a:p>
        </p:txBody>
      </p:sp>
      <p:sp>
        <p:nvSpPr>
          <p:cNvPr id="120" name="Google Shape;120;p19"/>
          <p:cNvSpPr/>
          <p:nvPr/>
        </p:nvSpPr>
        <p:spPr>
          <a:xfrm>
            <a:off x="-25" y="4917825"/>
            <a:ext cx="9144000" cy="2256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2">
            <a:extLst>
              <a:ext uri="{FF2B5EF4-FFF2-40B4-BE49-F238E27FC236}">
                <a16:creationId xmlns:a16="http://schemas.microsoft.com/office/drawing/2014/main" id="{0A3E17EB-5CD6-C4FE-E255-64A764C4AE5B}"/>
              </a:ext>
            </a:extLst>
          </p:cNvPr>
          <p:cNvSpPr>
            <a:spLocks noGrp="1" noChangeArrowheads="1"/>
          </p:cNvSpPr>
          <p:nvPr>
            <p:ph type="body" idx="4294967295"/>
          </p:nvPr>
        </p:nvSpPr>
        <p:spPr bwMode="auto">
          <a:xfrm>
            <a:off x="853758" y="1748853"/>
            <a:ext cx="7436802"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algn="just" eaLnBrk="0" fontAlgn="base" hangingPunct="0">
              <a:lnSpc>
                <a:spcPct val="100000"/>
              </a:lnSpc>
              <a:spcBef>
                <a:spcPct val="0"/>
              </a:spcBef>
              <a:spcAft>
                <a:spcPct val="0"/>
              </a:spcAft>
              <a:buClrTx/>
              <a:buSzTx/>
              <a:buFont typeface="+mj-lt"/>
              <a:buAutoNum type="arabicPeriod"/>
            </a:pPr>
            <a:r>
              <a:rPr lang="en-US" sz="1400" dirty="0">
                <a:solidFill>
                  <a:schemeClr val="tx1">
                    <a:lumMod val="95000"/>
                    <a:lumOff val="5000"/>
                  </a:schemeClr>
                </a:solidFill>
              </a:rPr>
              <a:t>Modern agriculture increasingly uses geo-location and weather data to deliver timely, location-specific.</a:t>
            </a:r>
          </a:p>
          <a:p>
            <a:pPr marL="342900" algn="just" eaLnBrk="0" fontAlgn="base" hangingPunct="0">
              <a:lnSpc>
                <a:spcPct val="100000"/>
              </a:lnSpc>
              <a:spcBef>
                <a:spcPct val="0"/>
              </a:spcBef>
              <a:spcAft>
                <a:spcPct val="0"/>
              </a:spcAft>
              <a:buClrTx/>
              <a:buSzTx/>
              <a:buFont typeface="+mj-lt"/>
              <a:buAutoNum type="arabicPeriod"/>
            </a:pPr>
            <a:r>
              <a:rPr lang="en-US" sz="1400" dirty="0">
                <a:solidFill>
                  <a:schemeClr val="tx1"/>
                </a:solidFill>
              </a:rPr>
              <a:t>Weather- driven early warning systems help farmers plan irrigation, fertilization, and harvesting effectively.</a:t>
            </a:r>
          </a:p>
          <a:p>
            <a:pPr marL="342900" algn="just" eaLnBrk="0" fontAlgn="base" hangingPunct="0">
              <a:lnSpc>
                <a:spcPct val="100000"/>
              </a:lnSpc>
              <a:spcBef>
                <a:spcPct val="0"/>
              </a:spcBef>
              <a:spcAft>
                <a:spcPct val="0"/>
              </a:spcAft>
              <a:buClrTx/>
              <a:buSzTx/>
              <a:buFont typeface="+mj-lt"/>
              <a:buAutoNum type="arabicPeriod"/>
            </a:pPr>
            <a:r>
              <a:rPr lang="en-US" sz="1400" dirty="0">
                <a:solidFill>
                  <a:schemeClr val="tx1"/>
                </a:solidFill>
              </a:rPr>
              <a:t>Remote sensing and satellite products, such as SMPA and Sentinel-1 provide valuable soil and climate information at scale.</a:t>
            </a:r>
          </a:p>
          <a:p>
            <a:pPr marL="342900" algn="just" eaLnBrk="0" fontAlgn="base" hangingPunct="0">
              <a:lnSpc>
                <a:spcPct val="100000"/>
              </a:lnSpc>
              <a:spcBef>
                <a:spcPct val="0"/>
              </a:spcBef>
              <a:spcAft>
                <a:spcPct val="0"/>
              </a:spcAft>
              <a:buClrTx/>
              <a:buSzTx/>
              <a:buFont typeface="+mj-lt"/>
              <a:buAutoNum type="arabicPeriod"/>
            </a:pPr>
            <a:r>
              <a:rPr lang="en-US" sz="1400" dirty="0">
                <a:solidFill>
                  <a:schemeClr val="tx1"/>
                </a:solidFill>
              </a:rPr>
              <a:t> Data fusion techniques combine weather forecasts, satellite data, and soil maps for localized predictions.</a:t>
            </a:r>
          </a:p>
          <a:p>
            <a:pPr marL="342900" algn="just" eaLnBrk="0" fontAlgn="base" hangingPunct="0">
              <a:lnSpc>
                <a:spcPct val="100000"/>
              </a:lnSpc>
              <a:spcBef>
                <a:spcPct val="0"/>
              </a:spcBef>
              <a:spcAft>
                <a:spcPct val="0"/>
              </a:spcAft>
              <a:buClrTx/>
              <a:buSzTx/>
              <a:buFont typeface="+mj-lt"/>
              <a:buAutoNum type="arabicPeriod"/>
            </a:pPr>
            <a:r>
              <a:rPr lang="en-US" sz="1400" dirty="0">
                <a:solidFill>
                  <a:schemeClr val="tx1"/>
                </a:solidFill>
              </a:rPr>
              <a:t>Machine learning models improve the accuracy of environmental monitoring and risk assessment.</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9"/>
          <p:cNvSpPr txBox="1">
            <a:spLocks noGrp="1"/>
          </p:cNvSpPr>
          <p:nvPr>
            <p:ph type="title" idx="4294967295"/>
          </p:nvPr>
        </p:nvSpPr>
        <p:spPr>
          <a:xfrm>
            <a:off x="1405974" y="445025"/>
            <a:ext cx="3882121" cy="761700"/>
          </a:xfrm>
          <a:prstGeom prst="rect">
            <a:avLst/>
          </a:prstGeom>
        </p:spPr>
        <p:txBody>
          <a:bodyPr spcFirstLastPara="1" wrap="square" lIns="91425" tIns="91425" rIns="91425" bIns="91425" anchor="ctr" anchorCtr="0">
            <a:normAutofit/>
          </a:bodyPr>
          <a:lstStyle/>
          <a:p>
            <a:pPr lvl="0"/>
            <a:r>
              <a:rPr lang="en-US" b="1" dirty="0">
                <a:solidFill>
                  <a:schemeClr val="tx1"/>
                </a:solidFill>
                <a:latin typeface="Montserrat"/>
                <a:ea typeface="Montserrat"/>
                <a:cs typeface="Montserrat"/>
                <a:sym typeface="Montserrat"/>
              </a:rPr>
              <a:t>Literature Review</a:t>
            </a:r>
            <a:endParaRPr b="1" dirty="0">
              <a:solidFill>
                <a:schemeClr val="tx1"/>
              </a:solidFill>
              <a:latin typeface="Montserrat"/>
              <a:ea typeface="Montserrat"/>
              <a:cs typeface="Montserrat"/>
              <a:sym typeface="Montserrat"/>
            </a:endParaRPr>
          </a:p>
        </p:txBody>
      </p:sp>
      <p:sp>
        <p:nvSpPr>
          <p:cNvPr id="120" name="Google Shape;120;p19"/>
          <p:cNvSpPr/>
          <p:nvPr/>
        </p:nvSpPr>
        <p:spPr>
          <a:xfrm>
            <a:off x="-26" y="4917824"/>
            <a:ext cx="9144025" cy="406015"/>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a:extLst>
              <a:ext uri="{FF2B5EF4-FFF2-40B4-BE49-F238E27FC236}">
                <a16:creationId xmlns:a16="http://schemas.microsoft.com/office/drawing/2014/main" id="{6763FBAC-0791-4011-B2A0-E49181227C28}"/>
              </a:ext>
            </a:extLst>
          </p:cNvPr>
          <p:cNvSpPr>
            <a:spLocks noGrp="1" noChangeArrowheads="1"/>
          </p:cNvSpPr>
          <p:nvPr>
            <p:ph type="body" idx="4294967295"/>
          </p:nvPr>
        </p:nvSpPr>
        <p:spPr bwMode="auto">
          <a:xfrm>
            <a:off x="-45110" y="1663809"/>
            <a:ext cx="844174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257300" lvl="2" indent="-342900" algn="just" eaLnBrk="0" fontAlgn="base" hangingPunct="0">
              <a:lnSpc>
                <a:spcPct val="100000"/>
              </a:lnSpc>
              <a:spcBef>
                <a:spcPct val="0"/>
              </a:spcBef>
              <a:spcAft>
                <a:spcPct val="0"/>
              </a:spcAft>
              <a:buClrTx/>
              <a:buSzTx/>
              <a:buAutoNum type="arabicPeriod" startAt="6"/>
            </a:pPr>
            <a:r>
              <a:rPr lang="en-US" dirty="0">
                <a:solidFill>
                  <a:schemeClr val="tx1">
                    <a:lumMod val="95000"/>
                    <a:lumOff val="5000"/>
                  </a:schemeClr>
                </a:solidFill>
              </a:rPr>
              <a:t>web application, SMS alerts, and cloud  platforms enable wide and rapid dissemination of advice.</a:t>
            </a:r>
          </a:p>
          <a:p>
            <a:pPr marL="1257300" lvl="2" indent="-342900" algn="just" eaLnBrk="0" fontAlgn="base" hangingPunct="0">
              <a:lnSpc>
                <a:spcPct val="100000"/>
              </a:lnSpc>
              <a:spcBef>
                <a:spcPct val="0"/>
              </a:spcBef>
              <a:spcAft>
                <a:spcPct val="0"/>
              </a:spcAft>
              <a:buClrTx/>
              <a:buSzTx/>
              <a:buAutoNum type="arabicPeriod" startAt="6"/>
            </a:pPr>
            <a:r>
              <a:rPr lang="en-US" dirty="0">
                <a:solidFill>
                  <a:schemeClr val="tx1">
                    <a:lumMod val="95000"/>
                    <a:lumOff val="5000"/>
                  </a:schemeClr>
                </a:solidFill>
              </a:rPr>
              <a:t>Localized recommendations based on crop stage and regional conditions improve farmer decision.</a:t>
            </a:r>
          </a:p>
          <a:p>
            <a:pPr marL="1257300" lvl="2" indent="-342900" algn="just" eaLnBrk="0" fontAlgn="base" hangingPunct="0">
              <a:lnSpc>
                <a:spcPct val="100000"/>
              </a:lnSpc>
              <a:spcBef>
                <a:spcPct val="0"/>
              </a:spcBef>
              <a:spcAft>
                <a:spcPct val="0"/>
              </a:spcAft>
              <a:buClrTx/>
              <a:buSzTx/>
              <a:buAutoNum type="arabicPeriod" startAt="6"/>
            </a:pPr>
            <a:r>
              <a:rPr lang="en-US" dirty="0">
                <a:solidFill>
                  <a:schemeClr val="tx1">
                    <a:lumMod val="95000"/>
                    <a:lumOff val="5000"/>
                  </a:schemeClr>
                </a:solidFill>
              </a:rPr>
              <a:t>Challenges include data resolution limits, connectivity issues, and adoption barriers among smallholders.</a:t>
            </a:r>
          </a:p>
          <a:p>
            <a:pPr marL="1257300" lvl="2" indent="-342900" algn="just" eaLnBrk="0" fontAlgn="base" hangingPunct="0">
              <a:lnSpc>
                <a:spcPct val="100000"/>
              </a:lnSpc>
              <a:spcBef>
                <a:spcPct val="0"/>
              </a:spcBef>
              <a:spcAft>
                <a:spcPct val="0"/>
              </a:spcAft>
              <a:buClrTx/>
              <a:buSzTx/>
              <a:buAutoNum type="arabicPeriod" startAt="6"/>
            </a:pPr>
            <a:r>
              <a:rPr lang="en-US" dirty="0">
                <a:solidFill>
                  <a:schemeClr val="tx1">
                    <a:lumMod val="95000"/>
                    <a:lumOff val="5000"/>
                  </a:schemeClr>
                </a:solidFill>
              </a:rPr>
              <a:t>Literature supports integrating geo-location, weather APIs, and remote data to promote sustainable agriculture.</a:t>
            </a:r>
          </a:p>
        </p:txBody>
      </p:sp>
    </p:spTree>
    <p:extLst>
      <p:ext uri="{BB962C8B-B14F-4D97-AF65-F5344CB8AC3E}">
        <p14:creationId xmlns:p14="http://schemas.microsoft.com/office/powerpoint/2010/main" val="3246315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7"/>
          <p:cNvSpPr/>
          <p:nvPr/>
        </p:nvSpPr>
        <p:spPr>
          <a:xfrm>
            <a:off x="14225" y="1721850"/>
            <a:ext cx="9122100" cy="16998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7"/>
          <p:cNvSpPr txBox="1">
            <a:spLocks noGrp="1"/>
          </p:cNvSpPr>
          <p:nvPr>
            <p:ph type="title"/>
          </p:nvPr>
        </p:nvSpPr>
        <p:spPr>
          <a:xfrm>
            <a:off x="2226125" y="2190900"/>
            <a:ext cx="4698300" cy="761700"/>
          </a:xfrm>
          <a:prstGeom prst="rect">
            <a:avLst/>
          </a:prstGeom>
        </p:spPr>
        <p:txBody>
          <a:bodyPr spcFirstLastPara="1" wrap="square" lIns="91425" tIns="91425" rIns="91425" bIns="91425" anchor="ctr" anchorCtr="0">
            <a:normAutofit/>
          </a:bodyPr>
          <a:lstStyle/>
          <a:p>
            <a:pPr lvl="0" algn="ctr"/>
            <a:r>
              <a:rPr lang="en-US" b="1" dirty="0">
                <a:solidFill>
                  <a:schemeClr val="lt1"/>
                </a:solidFill>
                <a:latin typeface="Montserrat"/>
                <a:ea typeface="Montserrat"/>
                <a:cs typeface="Montserrat"/>
                <a:sym typeface="Montserrat"/>
              </a:rPr>
              <a:t>PROBLEM STATEMENT</a:t>
            </a:r>
          </a:p>
        </p:txBody>
      </p:sp>
      <p:pic>
        <p:nvPicPr>
          <p:cNvPr id="7"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9"/>
          <p:cNvSpPr txBox="1">
            <a:spLocks noGrp="1"/>
          </p:cNvSpPr>
          <p:nvPr>
            <p:ph type="title" idx="4294967295"/>
          </p:nvPr>
        </p:nvSpPr>
        <p:spPr>
          <a:xfrm>
            <a:off x="1405974" y="445025"/>
            <a:ext cx="3882121" cy="761700"/>
          </a:xfrm>
          <a:prstGeom prst="rect">
            <a:avLst/>
          </a:prstGeom>
        </p:spPr>
        <p:txBody>
          <a:bodyPr spcFirstLastPara="1" wrap="square" lIns="91425" tIns="91425" rIns="91425" bIns="91425" anchor="ctr" anchorCtr="0">
            <a:normAutofit/>
          </a:bodyPr>
          <a:lstStyle/>
          <a:p>
            <a:pPr lvl="0"/>
            <a:r>
              <a:rPr lang="en-US" b="1" dirty="0">
                <a:solidFill>
                  <a:schemeClr val="tx1"/>
                </a:solidFill>
                <a:latin typeface="Montserrat"/>
                <a:ea typeface="Montserrat"/>
                <a:cs typeface="Montserrat"/>
                <a:sym typeface="Montserrat"/>
              </a:rPr>
              <a:t>Problem Statement</a:t>
            </a:r>
            <a:endParaRPr b="1" dirty="0">
              <a:solidFill>
                <a:schemeClr val="tx1"/>
              </a:solidFill>
              <a:latin typeface="Montserrat"/>
              <a:ea typeface="Montserrat"/>
              <a:cs typeface="Montserrat"/>
              <a:sym typeface="Montserrat"/>
            </a:endParaRPr>
          </a:p>
        </p:txBody>
      </p:sp>
      <p:sp>
        <p:nvSpPr>
          <p:cNvPr id="120" name="Google Shape;120;p19"/>
          <p:cNvSpPr/>
          <p:nvPr/>
        </p:nvSpPr>
        <p:spPr>
          <a:xfrm>
            <a:off x="-25" y="4917825"/>
            <a:ext cx="9144000" cy="2256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a:extLst>
              <a:ext uri="{FF2B5EF4-FFF2-40B4-BE49-F238E27FC236}">
                <a16:creationId xmlns:a16="http://schemas.microsoft.com/office/drawing/2014/main" id="{65AEAAF9-F15E-09F2-7CEF-AE27E49CD971}"/>
              </a:ext>
            </a:extLst>
          </p:cNvPr>
          <p:cNvSpPr>
            <a:spLocks noGrp="1" noChangeArrowheads="1"/>
          </p:cNvSpPr>
          <p:nvPr>
            <p:ph type="body" idx="4294967295"/>
          </p:nvPr>
        </p:nvSpPr>
        <p:spPr bwMode="auto">
          <a:xfrm>
            <a:off x="690855" y="2165092"/>
            <a:ext cx="8260105" cy="2154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Farmers lack accurate, location-specific soil and climate information for decision-making.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Generalized weather forecasts often fail to address micro-climatic variations affecting crops.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Inadequate information leads to poor resource management and higher operational costs.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Adverse weather events cause significant yield losses due to lack of  alerts.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There is no widely available system combining geo-location and weather data for farm-specific recommendations.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Farmers need a reliable, real-time alert platform to support sustainable and productive agriculture.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3F350CDA-3C87-CC4B-7EB0-25AFFFCC8CE2}"/>
              </a:ext>
            </a:extLst>
          </p:cNvPr>
          <p:cNvSpPr txBox="1"/>
          <p:nvPr/>
        </p:nvSpPr>
        <p:spPr>
          <a:xfrm>
            <a:off x="896620" y="1698228"/>
            <a:ext cx="6499860" cy="523220"/>
          </a:xfrm>
          <a:prstGeom prst="rect">
            <a:avLst/>
          </a:prstGeom>
          <a:noFill/>
        </p:spPr>
        <p:txBody>
          <a:bodyPr wrap="square">
            <a:spAutoFit/>
          </a:bodyPr>
          <a:lstStyle/>
          <a:p>
            <a:pPr algn="just"/>
            <a:r>
              <a:rPr lang="en-US" dirty="0"/>
              <a:t>farmers lack timely, location-specific soil and climate information, leading to poor resource use, lower yields, and greater vulnerability to adverse weather.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1"/>
          <p:cNvSpPr/>
          <p:nvPr/>
        </p:nvSpPr>
        <p:spPr>
          <a:xfrm>
            <a:off x="14225" y="1721850"/>
            <a:ext cx="9122100" cy="16998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1"/>
          <p:cNvSpPr txBox="1">
            <a:spLocks noGrp="1"/>
          </p:cNvSpPr>
          <p:nvPr>
            <p:ph type="ctrTitle"/>
          </p:nvPr>
        </p:nvSpPr>
        <p:spPr>
          <a:xfrm>
            <a:off x="1763550" y="2092950"/>
            <a:ext cx="5616900" cy="957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sz="3600" b="1" dirty="0">
                <a:solidFill>
                  <a:schemeClr val="lt1"/>
                </a:solidFill>
                <a:latin typeface="Montserrat"/>
                <a:ea typeface="Montserrat"/>
                <a:cs typeface="Montserrat"/>
                <a:sym typeface="Montserrat"/>
              </a:rPr>
              <a:t>PROPOSED SYSTEM</a:t>
            </a:r>
            <a:endParaRPr sz="3600" b="1" dirty="0">
              <a:solidFill>
                <a:schemeClr val="lt1"/>
              </a:solidFill>
              <a:latin typeface="Montserrat"/>
              <a:ea typeface="Montserrat"/>
              <a:cs typeface="Montserrat"/>
              <a:sym typeface="Montserrat"/>
            </a:endParaRPr>
          </a:p>
        </p:txBody>
      </p:sp>
      <p:pic>
        <p:nvPicPr>
          <p:cNvPr id="7"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9"/>
          <p:cNvSpPr txBox="1">
            <a:spLocks noGrp="1"/>
          </p:cNvSpPr>
          <p:nvPr>
            <p:ph type="title" idx="4294967295"/>
          </p:nvPr>
        </p:nvSpPr>
        <p:spPr>
          <a:xfrm>
            <a:off x="1741254" y="445025"/>
            <a:ext cx="3882121" cy="761700"/>
          </a:xfrm>
          <a:prstGeom prst="rect">
            <a:avLst/>
          </a:prstGeom>
        </p:spPr>
        <p:txBody>
          <a:bodyPr spcFirstLastPara="1" wrap="square" lIns="91425" tIns="91425" rIns="91425" bIns="91425" anchor="ctr" anchorCtr="0">
            <a:normAutofit/>
          </a:bodyPr>
          <a:lstStyle/>
          <a:p>
            <a:pPr lvl="0"/>
            <a:r>
              <a:rPr lang="en-US" b="1" dirty="0">
                <a:solidFill>
                  <a:schemeClr val="tx1"/>
                </a:solidFill>
                <a:latin typeface="Montserrat"/>
                <a:ea typeface="Montserrat"/>
                <a:cs typeface="Montserrat"/>
                <a:sym typeface="Montserrat"/>
              </a:rPr>
              <a:t>Proposed System</a:t>
            </a:r>
            <a:endParaRPr b="1" dirty="0">
              <a:solidFill>
                <a:schemeClr val="tx1"/>
              </a:solidFill>
              <a:latin typeface="Montserrat"/>
              <a:ea typeface="Montserrat"/>
              <a:cs typeface="Montserrat"/>
              <a:sym typeface="Montserrat"/>
            </a:endParaRPr>
          </a:p>
        </p:txBody>
      </p:sp>
      <p:sp>
        <p:nvSpPr>
          <p:cNvPr id="116" name="Google Shape;116;p19"/>
          <p:cNvSpPr txBox="1">
            <a:spLocks noGrp="1"/>
          </p:cNvSpPr>
          <p:nvPr>
            <p:ph type="body" idx="4294967295"/>
          </p:nvPr>
        </p:nvSpPr>
        <p:spPr>
          <a:xfrm>
            <a:off x="1405975" y="1224600"/>
            <a:ext cx="6467400" cy="2694300"/>
          </a:xfrm>
          <a:prstGeom prst="rect">
            <a:avLst/>
          </a:prstGeom>
        </p:spPr>
        <p:txBody>
          <a:bodyPr spcFirstLastPara="1" wrap="square" lIns="91425" tIns="91425" rIns="91425" bIns="91425" anchor="t" anchorCtr="0">
            <a:normAutofit lnSpcReduction="10000"/>
          </a:bodyPr>
          <a:lstStyle/>
          <a:p>
            <a:pPr lvl="1"/>
            <a:r>
              <a:rPr lang="en-IN" sz="1500" b="1" dirty="0">
                <a:solidFill>
                  <a:schemeClr val="tx1"/>
                </a:solidFill>
              </a:rPr>
              <a:t>Description of the System</a:t>
            </a:r>
            <a:endParaRPr lang="en-US" sz="1500" dirty="0">
              <a:solidFill>
                <a:schemeClr val="tx1"/>
              </a:solidFill>
            </a:endParaRPr>
          </a:p>
          <a:p>
            <a:pPr algn="just"/>
            <a:r>
              <a:rPr lang="en-IN" sz="1500" dirty="0" err="1">
                <a:solidFill>
                  <a:schemeClr val="tx1"/>
                </a:solidFill>
              </a:rPr>
              <a:t>AgriSense</a:t>
            </a:r>
            <a:r>
              <a:rPr lang="en-IN" sz="1500" dirty="0">
                <a:solidFill>
                  <a:schemeClr val="tx1"/>
                </a:solidFill>
              </a:rPr>
              <a:t> is a web application designed to provide farmers with real-time, location-specific alerts regarding soil health and climate conditions. The system leverages the user’s GPS location to collect precise data from integrated weather forecasting and soil data from AI APIs. Using this information, </a:t>
            </a:r>
            <a:r>
              <a:rPr lang="en-IN" sz="1500" dirty="0" err="1">
                <a:solidFill>
                  <a:schemeClr val="tx1"/>
                </a:solidFill>
              </a:rPr>
              <a:t>AgriSense</a:t>
            </a:r>
            <a:r>
              <a:rPr lang="en-IN" sz="1500" dirty="0">
                <a:solidFill>
                  <a:schemeClr val="tx1"/>
                </a:solidFill>
              </a:rPr>
              <a:t> generates timely and actionable alerts and recommendations, helping farmers optimize irrigation, fertilization, and crop protection activities. The app aims to support decision-making at the farm level, increasing crop productivity and promoting sustainable agricultural practices.</a:t>
            </a:r>
            <a:endParaRPr lang="en-US" sz="1500" dirty="0">
              <a:solidFill>
                <a:schemeClr val="tx1"/>
              </a:solidFill>
            </a:endParaRPr>
          </a:p>
          <a:p>
            <a:pPr marL="0" lvl="0" indent="0" algn="just" rtl="0">
              <a:spcBef>
                <a:spcPts val="0"/>
              </a:spcBef>
              <a:spcAft>
                <a:spcPts val="1200"/>
              </a:spcAft>
              <a:buNone/>
            </a:pPr>
            <a:endParaRPr sz="1400" dirty="0">
              <a:solidFill>
                <a:schemeClr val="dk1"/>
              </a:solidFill>
              <a:latin typeface="Montserrat"/>
              <a:ea typeface="Montserrat"/>
              <a:cs typeface="Montserrat"/>
              <a:sym typeface="Montserrat"/>
            </a:endParaRPr>
          </a:p>
        </p:txBody>
      </p:sp>
      <p:sp>
        <p:nvSpPr>
          <p:cNvPr id="120" name="Google Shape;120;p19"/>
          <p:cNvSpPr/>
          <p:nvPr/>
        </p:nvSpPr>
        <p:spPr>
          <a:xfrm>
            <a:off x="-25" y="4917825"/>
            <a:ext cx="9144000" cy="2256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44800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76D2ED6-932B-01DC-FC61-A19088B849EF}"/>
              </a:ext>
            </a:extLst>
          </p:cNvPr>
          <p:cNvSpPr txBox="1"/>
          <p:nvPr/>
        </p:nvSpPr>
        <p:spPr>
          <a:xfrm>
            <a:off x="1371600" y="655675"/>
            <a:ext cx="6604000" cy="523220"/>
          </a:xfrm>
          <a:prstGeom prst="rect">
            <a:avLst/>
          </a:prstGeom>
          <a:noFill/>
        </p:spPr>
        <p:txBody>
          <a:bodyPr wrap="square">
            <a:spAutoFit/>
          </a:bodyPr>
          <a:lstStyle/>
          <a:p>
            <a:r>
              <a:rPr lang="en-US" sz="2800" b="1" dirty="0">
                <a:solidFill>
                  <a:schemeClr val="tx1"/>
                </a:solidFill>
                <a:latin typeface="Montserrat"/>
                <a:ea typeface="Montserrat"/>
                <a:cs typeface="Montserrat"/>
                <a:sym typeface="Montserrat"/>
              </a:rPr>
              <a:t>Proposed System</a:t>
            </a:r>
            <a:endParaRPr lang="en-US" sz="2800" dirty="0"/>
          </a:p>
        </p:txBody>
      </p:sp>
      <p:pic>
        <p:nvPicPr>
          <p:cNvPr id="6" name="Picture 2" descr="D:\NEW_LOGO_GHRUA\GHRU Amravati.png">
            <a:extLst>
              <a:ext uri="{FF2B5EF4-FFF2-40B4-BE49-F238E27FC236}">
                <a16:creationId xmlns:a16="http://schemas.microsoft.com/office/drawing/2014/main" id="{F531EC3F-CBB6-C2CE-63F0-5D48640CA8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
            <a:extLst>
              <a:ext uri="{FF2B5EF4-FFF2-40B4-BE49-F238E27FC236}">
                <a16:creationId xmlns:a16="http://schemas.microsoft.com/office/drawing/2014/main" id="{B19171FF-D79D-4687-55F7-AD148E8CEFCE}"/>
              </a:ext>
            </a:extLst>
          </p:cNvPr>
          <p:cNvSpPr>
            <a:spLocks noChangeArrowheads="1"/>
          </p:cNvSpPr>
          <p:nvPr/>
        </p:nvSpPr>
        <p:spPr bwMode="auto">
          <a:xfrm>
            <a:off x="1249680" y="1587381"/>
            <a:ext cx="6695440"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Uses geo-location and weather data to provide real-time soil and climate alerts.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Delivers location-specific recommendations for farming activities.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Integrates satellite data and weather APIs for accurate monitoring.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Accessible via web app or SMS alerts for quick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Supports resource optimization and sustainable agriculture practices.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2" name="Google Shape;120;p19">
            <a:extLst>
              <a:ext uri="{FF2B5EF4-FFF2-40B4-BE49-F238E27FC236}">
                <a16:creationId xmlns:a16="http://schemas.microsoft.com/office/drawing/2014/main" id="{B3719984-9E6F-0643-B1C9-60956977B4BB}"/>
              </a:ext>
            </a:extLst>
          </p:cNvPr>
          <p:cNvSpPr/>
          <p:nvPr/>
        </p:nvSpPr>
        <p:spPr>
          <a:xfrm>
            <a:off x="-25" y="4917825"/>
            <a:ext cx="9144000" cy="2256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99653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1"/>
          <p:cNvSpPr/>
          <p:nvPr/>
        </p:nvSpPr>
        <p:spPr>
          <a:xfrm>
            <a:off x="14225" y="1721850"/>
            <a:ext cx="9122100" cy="16998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1"/>
          <p:cNvSpPr txBox="1">
            <a:spLocks noGrp="1"/>
          </p:cNvSpPr>
          <p:nvPr>
            <p:ph type="ctrTitle"/>
          </p:nvPr>
        </p:nvSpPr>
        <p:spPr>
          <a:xfrm>
            <a:off x="1763550" y="2092950"/>
            <a:ext cx="5616900" cy="957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sz="3600" b="1" dirty="0">
                <a:solidFill>
                  <a:schemeClr val="lt1"/>
                </a:solidFill>
                <a:latin typeface="Montserrat"/>
                <a:ea typeface="Montserrat"/>
                <a:cs typeface="Montserrat"/>
                <a:sym typeface="Montserrat"/>
              </a:rPr>
              <a:t>METHODOLOGY</a:t>
            </a:r>
            <a:endParaRPr sz="3600" b="1" dirty="0">
              <a:solidFill>
                <a:schemeClr val="lt1"/>
              </a:solidFill>
              <a:latin typeface="Montserrat"/>
              <a:ea typeface="Montserrat"/>
              <a:cs typeface="Montserrat"/>
              <a:sym typeface="Montserrat"/>
            </a:endParaRPr>
          </a:p>
        </p:txBody>
      </p:sp>
      <p:pic>
        <p:nvPicPr>
          <p:cNvPr id="7"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7030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9"/>
          <p:cNvSpPr txBox="1">
            <a:spLocks noGrp="1"/>
          </p:cNvSpPr>
          <p:nvPr>
            <p:ph type="title" idx="4294967295"/>
          </p:nvPr>
        </p:nvSpPr>
        <p:spPr>
          <a:xfrm>
            <a:off x="1405974" y="445025"/>
            <a:ext cx="3882121" cy="761700"/>
          </a:xfrm>
          <a:prstGeom prst="rect">
            <a:avLst/>
          </a:prstGeom>
        </p:spPr>
        <p:txBody>
          <a:bodyPr spcFirstLastPara="1" wrap="square" lIns="91425" tIns="91425" rIns="91425" bIns="91425" anchor="ctr" anchorCtr="0">
            <a:normAutofit/>
          </a:bodyPr>
          <a:lstStyle/>
          <a:p>
            <a:pPr lvl="0"/>
            <a:r>
              <a:rPr lang="en-US" b="1" dirty="0">
                <a:solidFill>
                  <a:schemeClr val="tx1"/>
                </a:solidFill>
                <a:latin typeface="Montserrat"/>
                <a:ea typeface="Montserrat"/>
                <a:cs typeface="Montserrat"/>
                <a:sym typeface="Montserrat"/>
              </a:rPr>
              <a:t>Methodology</a:t>
            </a:r>
            <a:endParaRPr b="1" dirty="0">
              <a:solidFill>
                <a:schemeClr val="tx1"/>
              </a:solidFill>
              <a:latin typeface="Montserrat"/>
              <a:ea typeface="Montserrat"/>
              <a:cs typeface="Montserrat"/>
              <a:sym typeface="Montserrat"/>
            </a:endParaRPr>
          </a:p>
        </p:txBody>
      </p:sp>
      <p:sp>
        <p:nvSpPr>
          <p:cNvPr id="120" name="Google Shape;120;p19"/>
          <p:cNvSpPr/>
          <p:nvPr/>
        </p:nvSpPr>
        <p:spPr>
          <a:xfrm>
            <a:off x="-25" y="4932225"/>
            <a:ext cx="9144000" cy="2256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DAAB3554-158C-083A-228D-76CA183A18E5}"/>
              </a:ext>
            </a:extLst>
          </p:cNvPr>
          <p:cNvSpPr>
            <a:spLocks noGrp="1" noChangeArrowheads="1"/>
          </p:cNvSpPr>
          <p:nvPr>
            <p:ph type="body" idx="4294967295"/>
          </p:nvPr>
        </p:nvSpPr>
        <p:spPr bwMode="auto">
          <a:xfrm>
            <a:off x="1406525" y="1444060"/>
            <a:ext cx="746315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Geo-location capture</a:t>
            </a:r>
            <a:r>
              <a:rPr kumimoji="0" lang="en-US" altLang="en-US" sz="1400" b="0" i="0" u="none" strike="noStrike" cap="none" normalizeH="0" baseline="0" dirty="0">
                <a:ln>
                  <a:noFill/>
                </a:ln>
                <a:solidFill>
                  <a:schemeClr val="tx1"/>
                </a:solidFill>
                <a:effectLst/>
                <a:latin typeface="Arial" panose="020B0604020202020204" pitchFamily="34" charset="0"/>
              </a:rPr>
              <a:t> — obtain farm coordinates and field boundaries from user input, map files, or GPS on the device.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Data sourcing</a:t>
            </a:r>
            <a:r>
              <a:rPr kumimoji="0" lang="en-US" altLang="en-US" sz="1400" b="0" i="0" u="none" strike="noStrike" cap="none" normalizeH="0" baseline="0" dirty="0">
                <a:ln>
                  <a:noFill/>
                </a:ln>
                <a:solidFill>
                  <a:schemeClr val="tx1"/>
                </a:solidFill>
                <a:effectLst/>
                <a:latin typeface="Arial" panose="020B0604020202020204" pitchFamily="34" charset="0"/>
              </a:rPr>
              <a:t> — pull near-real-time weather (observations &amp; forecasts), reanalysis, and satellite-derived products (e.g., soil-moisture/NDVI layers, rainfall estimates) for those coordinates.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Preprocessing &amp; fusion</a:t>
            </a:r>
            <a:r>
              <a:rPr kumimoji="0" lang="en-US" altLang="en-US" sz="1400" b="0" i="0" u="none" strike="noStrike" cap="none" normalizeH="0" baseline="0" dirty="0">
                <a:ln>
                  <a:noFill/>
                </a:ln>
                <a:solidFill>
                  <a:schemeClr val="tx1"/>
                </a:solidFill>
                <a:effectLst/>
                <a:latin typeface="Arial" panose="020B0604020202020204" pitchFamily="34" charset="0"/>
              </a:rPr>
              <a:t> — align datasets to common spatial/temporal grids, gap-fill and quality-check, then fuse weather, satellite, terrain and soil-map layers.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Downscaling &amp; local estimation</a:t>
            </a:r>
            <a:r>
              <a:rPr kumimoji="0" lang="en-US" altLang="en-US" sz="1400" b="0" i="0" u="none" strike="noStrike" cap="none" normalizeH="0" baseline="0" dirty="0">
                <a:ln>
                  <a:noFill/>
                </a:ln>
                <a:solidFill>
                  <a:schemeClr val="tx1"/>
                </a:solidFill>
                <a:effectLst/>
                <a:latin typeface="Arial" panose="020B0604020202020204" pitchFamily="34" charset="0"/>
              </a:rPr>
              <a:t> — apply statistical downscaling or ML models to convert coarse climate/soil products into farm-scale indicators (soil moisture proxy, evapotranspiration, rainfall totals).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Risk &amp; threshold models</a:t>
            </a:r>
            <a:r>
              <a:rPr kumimoji="0" lang="en-US" altLang="en-US" sz="1400" b="0" i="0" u="none" strike="noStrike" cap="none" normalizeH="0" baseline="0" dirty="0">
                <a:ln>
                  <a:noFill/>
                </a:ln>
                <a:solidFill>
                  <a:schemeClr val="tx1"/>
                </a:solidFill>
                <a:effectLst/>
                <a:latin typeface="Arial" panose="020B0604020202020204" pitchFamily="34" charset="0"/>
              </a:rPr>
              <a:t> — compute crop-relevant indices and risk scores (water deficit, heat stress, flood risk) using agronomic rules and probabilistic thresholds tied to crop stage.</a:t>
            </a:r>
          </a:p>
        </p:txBody>
      </p:sp>
    </p:spTree>
    <p:extLst>
      <p:ext uri="{BB962C8B-B14F-4D97-AF65-F5344CB8AC3E}">
        <p14:creationId xmlns:p14="http://schemas.microsoft.com/office/powerpoint/2010/main" val="21195918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A36B7598-0F4B-E408-DA73-37A79C570133}"/>
            </a:ext>
          </a:extLst>
        </p:cNvPr>
        <p:cNvGrpSpPr/>
        <p:nvPr/>
      </p:nvGrpSpPr>
      <p:grpSpPr>
        <a:xfrm>
          <a:off x="0" y="0"/>
          <a:ext cx="0" cy="0"/>
          <a:chOff x="0" y="0"/>
          <a:chExt cx="0" cy="0"/>
        </a:xfrm>
      </p:grpSpPr>
      <p:sp>
        <p:nvSpPr>
          <p:cNvPr id="115" name="Google Shape;115;p19">
            <a:extLst>
              <a:ext uri="{FF2B5EF4-FFF2-40B4-BE49-F238E27FC236}">
                <a16:creationId xmlns:a16="http://schemas.microsoft.com/office/drawing/2014/main" id="{2B863A2F-F00F-0973-1E1E-663DB5BEE09D}"/>
              </a:ext>
            </a:extLst>
          </p:cNvPr>
          <p:cNvSpPr txBox="1">
            <a:spLocks noGrp="1"/>
          </p:cNvSpPr>
          <p:nvPr>
            <p:ph type="title" idx="4294967295"/>
          </p:nvPr>
        </p:nvSpPr>
        <p:spPr>
          <a:xfrm>
            <a:off x="1405974" y="445025"/>
            <a:ext cx="3882121" cy="761700"/>
          </a:xfrm>
          <a:prstGeom prst="rect">
            <a:avLst/>
          </a:prstGeom>
        </p:spPr>
        <p:txBody>
          <a:bodyPr spcFirstLastPara="1" wrap="square" lIns="91425" tIns="91425" rIns="91425" bIns="91425" anchor="ctr" anchorCtr="0">
            <a:normAutofit/>
          </a:bodyPr>
          <a:lstStyle/>
          <a:p>
            <a:pPr lvl="0"/>
            <a:r>
              <a:rPr lang="en-US" b="1" dirty="0">
                <a:solidFill>
                  <a:schemeClr val="tx1"/>
                </a:solidFill>
                <a:latin typeface="Montserrat"/>
                <a:ea typeface="Montserrat"/>
                <a:cs typeface="Montserrat"/>
                <a:sym typeface="Montserrat"/>
              </a:rPr>
              <a:t>Methodology</a:t>
            </a:r>
            <a:endParaRPr b="1" dirty="0">
              <a:solidFill>
                <a:schemeClr val="tx1"/>
              </a:solidFill>
              <a:latin typeface="Montserrat"/>
              <a:ea typeface="Montserrat"/>
              <a:cs typeface="Montserrat"/>
              <a:sym typeface="Montserrat"/>
            </a:endParaRPr>
          </a:p>
        </p:txBody>
      </p:sp>
      <p:sp>
        <p:nvSpPr>
          <p:cNvPr id="120" name="Google Shape;120;p19">
            <a:extLst>
              <a:ext uri="{FF2B5EF4-FFF2-40B4-BE49-F238E27FC236}">
                <a16:creationId xmlns:a16="http://schemas.microsoft.com/office/drawing/2014/main" id="{AB18C32B-FAC8-5F1C-8333-FC3E0DDC1195}"/>
              </a:ext>
            </a:extLst>
          </p:cNvPr>
          <p:cNvSpPr/>
          <p:nvPr/>
        </p:nvSpPr>
        <p:spPr>
          <a:xfrm>
            <a:off x="-25" y="4932225"/>
            <a:ext cx="9144000" cy="2256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Picture 2" descr="D:\NEW_LOGO_GHRUA\GHRU Amravati.png">
            <a:extLst>
              <a:ext uri="{FF2B5EF4-FFF2-40B4-BE49-F238E27FC236}">
                <a16:creationId xmlns:a16="http://schemas.microsoft.com/office/drawing/2014/main" id="{02E16AE1-7DEA-45F9-E40B-F31291918F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a:extLst>
              <a:ext uri="{FF2B5EF4-FFF2-40B4-BE49-F238E27FC236}">
                <a16:creationId xmlns:a16="http://schemas.microsoft.com/office/drawing/2014/main" id="{63960EA7-50CB-9CBE-3889-6296FC4599B8}"/>
              </a:ext>
            </a:extLst>
          </p:cNvPr>
          <p:cNvSpPr>
            <a:spLocks noGrp="1" noChangeArrowheads="1"/>
          </p:cNvSpPr>
          <p:nvPr>
            <p:ph type="body" idx="4294967295"/>
          </p:nvPr>
        </p:nvSpPr>
        <p:spPr bwMode="auto">
          <a:xfrm>
            <a:off x="1406525" y="1444060"/>
            <a:ext cx="756853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Alert generation</a:t>
            </a:r>
            <a:r>
              <a:rPr kumimoji="0" lang="en-US" altLang="en-US" sz="1400" b="0" i="0" u="none" strike="noStrike" cap="none" normalizeH="0" baseline="0" dirty="0">
                <a:ln>
                  <a:noFill/>
                </a:ln>
                <a:solidFill>
                  <a:schemeClr val="tx1"/>
                </a:solidFill>
                <a:effectLst/>
                <a:latin typeface="Arial" panose="020B0604020202020204" pitchFamily="34" charset="0"/>
              </a:rPr>
              <a:t> — translate index breaches and forecast-based risks into clear, actionable alerts and recommended actions (irrigation timing, protective measures), including confidence/uncertainty.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Delivery channels</a:t>
            </a:r>
            <a:r>
              <a:rPr kumimoji="0" lang="en-US" altLang="en-US" sz="1400" b="0" i="0" u="none" strike="noStrike" cap="none" normalizeH="0" baseline="0" dirty="0">
                <a:ln>
                  <a:noFill/>
                </a:ln>
                <a:solidFill>
                  <a:schemeClr val="tx1"/>
                </a:solidFill>
                <a:effectLst/>
                <a:latin typeface="Arial" panose="020B0604020202020204" pitchFamily="34" charset="0"/>
              </a:rPr>
              <a:t> — send alerts </a:t>
            </a:r>
            <a:r>
              <a:rPr kumimoji="0" lang="en-US" altLang="en-US" sz="1400" b="0" i="0" u="none" strike="noStrike" cap="none" normalizeH="0" baseline="0">
                <a:ln>
                  <a:noFill/>
                </a:ln>
                <a:solidFill>
                  <a:schemeClr val="tx1"/>
                </a:solidFill>
                <a:effectLst/>
                <a:latin typeface="Arial" panose="020B0604020202020204" pitchFamily="34" charset="0"/>
              </a:rPr>
              <a:t>via web app</a:t>
            </a:r>
            <a:r>
              <a:rPr kumimoji="0" lang="en-US" altLang="en-US" sz="1400" b="0" i="0" u="none" strike="noStrike" cap="none" normalizeH="0" baseline="0" dirty="0">
                <a:ln>
                  <a:noFill/>
                </a:ln>
                <a:solidFill>
                  <a:schemeClr val="tx1"/>
                </a:solidFill>
                <a:effectLst/>
                <a:latin typeface="Arial" panose="020B0604020202020204" pitchFamily="34" charset="0"/>
              </a:rPr>
              <a:t>, SMS, and dashboard; include maps, short recommendations, and links to more info or local extension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User personalization</a:t>
            </a:r>
            <a:r>
              <a:rPr kumimoji="0" lang="en-US" altLang="en-US" sz="1400" b="0" i="0" u="none" strike="noStrike" cap="none" normalizeH="0" baseline="0" dirty="0">
                <a:ln>
                  <a:noFill/>
                </a:ln>
                <a:solidFill>
                  <a:schemeClr val="tx1"/>
                </a:solidFill>
                <a:effectLst/>
                <a:latin typeface="Arial" panose="020B0604020202020204" pitchFamily="34" charset="0"/>
              </a:rPr>
              <a:t> — allow users to set crops, critical thresholds, preferred channels, and local calendar so alerts are relevant.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Validation &amp; feedback loop</a:t>
            </a:r>
            <a:r>
              <a:rPr kumimoji="0" lang="en-US" altLang="en-US" sz="1400" b="0" i="0" u="none" strike="noStrike" cap="none" normalizeH="0" baseline="0" dirty="0">
                <a:ln>
                  <a:noFill/>
                </a:ln>
                <a:solidFill>
                  <a:schemeClr val="tx1"/>
                </a:solidFill>
                <a:effectLst/>
                <a:latin typeface="Arial" panose="020B0604020202020204" pitchFamily="34" charset="0"/>
              </a:rPr>
              <a:t> — run pilot validations (farmer feedback, ground-truth sampling where possible), log actions and outcomes, and retrain models to improve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Maintenance &amp; scaling</a:t>
            </a:r>
            <a:r>
              <a:rPr kumimoji="0" lang="en-US" altLang="en-US" sz="1400" b="0" i="0" u="none" strike="noStrike" cap="none" normalizeH="0" baseline="0" dirty="0">
                <a:ln>
                  <a:noFill/>
                </a:ln>
                <a:solidFill>
                  <a:schemeClr val="tx1"/>
                </a:solidFill>
                <a:effectLst/>
                <a:latin typeface="Arial" panose="020B0604020202020204" pitchFamily="34" charset="0"/>
              </a:rPr>
              <a:t> — automate data pipelines, monitor model performance, and design for low-bandwidth/low-power environments and multilingual/localized messaging.</a:t>
            </a:r>
          </a:p>
          <a:p>
            <a:pPr marL="0" lvl="0" indent="0" eaLnBrk="0" fontAlgn="base" hangingPunct="0">
              <a:lnSpc>
                <a:spcPct val="100000"/>
              </a:lnSpc>
              <a:spcBef>
                <a:spcPct val="0"/>
              </a:spcBef>
              <a:spcAft>
                <a:spcPct val="0"/>
              </a:spcAft>
              <a:buClrTx/>
              <a:buSzTx/>
              <a:buFontTx/>
              <a:buChar char="•"/>
            </a:pPr>
            <a:r>
              <a:rPr lang="en-US" altLang="en-US" sz="1400" b="1" dirty="0">
                <a:solidFill>
                  <a:schemeClr val="tx1"/>
                </a:solidFill>
                <a:latin typeface="Arial" panose="020B0604020202020204" pitchFamily="34" charset="0"/>
              </a:rPr>
              <a:t>AI&amp;ML </a:t>
            </a:r>
            <a:r>
              <a:rPr lang="en-US" altLang="en-US" sz="1400" dirty="0">
                <a:solidFill>
                  <a:schemeClr val="tx1"/>
                </a:solidFill>
                <a:latin typeface="Arial" panose="020B0604020202020204" pitchFamily="34" charset="0"/>
              </a:rPr>
              <a:t>-  Machine learning predicts soil moisture, rainfall, and temperature patterns.</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15107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1"/>
          <p:cNvSpPr/>
          <p:nvPr/>
        </p:nvSpPr>
        <p:spPr>
          <a:xfrm>
            <a:off x="14225" y="1721850"/>
            <a:ext cx="9122100" cy="16998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1"/>
          <p:cNvSpPr txBox="1">
            <a:spLocks noGrp="1"/>
          </p:cNvSpPr>
          <p:nvPr>
            <p:ph type="ctrTitle"/>
          </p:nvPr>
        </p:nvSpPr>
        <p:spPr>
          <a:xfrm>
            <a:off x="1763550" y="2092950"/>
            <a:ext cx="5616900" cy="957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sz="3600" b="1" dirty="0">
                <a:solidFill>
                  <a:schemeClr val="lt1"/>
                </a:solidFill>
                <a:latin typeface="Montserrat"/>
                <a:ea typeface="Montserrat"/>
                <a:cs typeface="Montserrat"/>
                <a:sym typeface="Montserrat"/>
              </a:rPr>
              <a:t>MODULES DESCRIPTION</a:t>
            </a:r>
            <a:endParaRPr sz="3600" b="1" dirty="0">
              <a:solidFill>
                <a:schemeClr val="lt1"/>
              </a:solidFill>
              <a:latin typeface="Montserrat"/>
              <a:ea typeface="Montserrat"/>
              <a:cs typeface="Montserrat"/>
              <a:sym typeface="Montserrat"/>
            </a:endParaRPr>
          </a:p>
        </p:txBody>
      </p:sp>
      <p:pic>
        <p:nvPicPr>
          <p:cNvPr id="7"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3074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9"/>
          <p:cNvSpPr txBox="1">
            <a:spLocks noGrp="1"/>
          </p:cNvSpPr>
          <p:nvPr>
            <p:ph type="title" idx="4294967295"/>
          </p:nvPr>
        </p:nvSpPr>
        <p:spPr>
          <a:xfrm>
            <a:off x="1405974" y="445025"/>
            <a:ext cx="3882121" cy="761700"/>
          </a:xfrm>
          <a:prstGeom prst="rect">
            <a:avLst/>
          </a:prstGeom>
        </p:spPr>
        <p:txBody>
          <a:bodyPr spcFirstLastPara="1" wrap="square" lIns="91425" tIns="91425" rIns="91425" bIns="91425" anchor="ctr" anchorCtr="0">
            <a:normAutofit/>
          </a:bodyPr>
          <a:lstStyle/>
          <a:p>
            <a:pPr lvl="0"/>
            <a:r>
              <a:rPr lang="en-US" b="1" dirty="0">
                <a:solidFill>
                  <a:schemeClr val="tx1"/>
                </a:solidFill>
                <a:latin typeface="Montserrat"/>
                <a:ea typeface="Montserrat"/>
                <a:cs typeface="Montserrat"/>
                <a:sym typeface="Montserrat"/>
              </a:rPr>
              <a:t>Modules Description</a:t>
            </a:r>
            <a:endParaRPr b="1" dirty="0">
              <a:solidFill>
                <a:schemeClr val="tx1"/>
              </a:solidFill>
              <a:latin typeface="Montserrat"/>
              <a:ea typeface="Montserrat"/>
              <a:cs typeface="Montserrat"/>
              <a:sym typeface="Montserrat"/>
            </a:endParaRPr>
          </a:p>
        </p:txBody>
      </p:sp>
      <p:sp>
        <p:nvSpPr>
          <p:cNvPr id="120" name="Google Shape;120;p19"/>
          <p:cNvSpPr/>
          <p:nvPr/>
        </p:nvSpPr>
        <p:spPr>
          <a:xfrm>
            <a:off x="-25" y="4917825"/>
            <a:ext cx="9144000" cy="2256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a:extLst>
              <a:ext uri="{FF2B5EF4-FFF2-40B4-BE49-F238E27FC236}">
                <a16:creationId xmlns:a16="http://schemas.microsoft.com/office/drawing/2014/main" id="{1E07762A-7D1D-12EF-383F-6CC270B0D854}"/>
              </a:ext>
            </a:extLst>
          </p:cNvPr>
          <p:cNvSpPr>
            <a:spLocks noGrp="1" noChangeArrowheads="1"/>
          </p:cNvSpPr>
          <p:nvPr>
            <p:ph type="body" idx="4294967295"/>
          </p:nvPr>
        </p:nvSpPr>
        <p:spPr bwMode="auto">
          <a:xfrm>
            <a:off x="1267778" y="1605820"/>
            <a:ext cx="7707282"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lvl="0" eaLnBrk="0" fontAlgn="base" hangingPunct="0">
              <a:lnSpc>
                <a:spcPct val="100000"/>
              </a:lnSpc>
              <a:spcBef>
                <a:spcPct val="0"/>
              </a:spcBef>
              <a:spcAft>
                <a:spcPct val="0"/>
              </a:spcAft>
              <a:buClrTx/>
              <a:buSzTx/>
              <a:buFont typeface="+mj-lt"/>
              <a:buAutoNum type="arabicPeriod"/>
            </a:pPr>
            <a:r>
              <a:rPr lang="en-US" altLang="en-US" sz="1400" dirty="0">
                <a:solidFill>
                  <a:schemeClr val="tx1"/>
                </a:solidFill>
                <a:latin typeface="Arial" panose="020B0604020202020204" pitchFamily="34" charset="0"/>
              </a:rPr>
              <a:t>The system gets the farm’s exact location through GPS or manual input from the farmer.</a:t>
            </a:r>
          </a:p>
          <a:p>
            <a:pPr marL="342900" lvl="0" eaLnBrk="0" fontAlgn="base" hangingPunct="0">
              <a:lnSpc>
                <a:spcPct val="100000"/>
              </a:lnSpc>
              <a:spcBef>
                <a:spcPct val="0"/>
              </a:spcBef>
              <a:spcAft>
                <a:spcPct val="0"/>
              </a:spcAft>
              <a:buClrTx/>
              <a:buSzTx/>
              <a:buFont typeface="+mj-lt"/>
              <a:buAutoNum type="arabicPeriod"/>
            </a:pPr>
            <a:r>
              <a:rPr lang="en-US" altLang="en-US" sz="1400" dirty="0">
                <a:solidFill>
                  <a:schemeClr val="tx1"/>
                </a:solidFill>
                <a:latin typeface="Arial" panose="020B0604020202020204" pitchFamily="34" charset="0"/>
              </a:rPr>
              <a:t>it collects weather forecasts, past climate records, and satellite images for that location.</a:t>
            </a:r>
            <a:r>
              <a:rPr kumimoji="0" lang="en-US" altLang="en-US" sz="1400" i="0" u="none" strike="noStrike" cap="none" normalizeH="0" baseline="0" dirty="0">
                <a:ln>
                  <a:noFill/>
                </a:ln>
                <a:solidFill>
                  <a:schemeClr val="tx1"/>
                </a:solidFill>
                <a:effectLst/>
                <a:latin typeface="Arial" panose="020B0604020202020204" pitchFamily="34" charset="0"/>
              </a:rPr>
              <a:t>.</a:t>
            </a:r>
          </a:p>
          <a:p>
            <a:pPr marL="342900" lvl="0" eaLnBrk="0" fontAlgn="base" hangingPunct="0">
              <a:lnSpc>
                <a:spcPct val="100000"/>
              </a:lnSpc>
              <a:spcBef>
                <a:spcPct val="0"/>
              </a:spcBef>
              <a:spcAft>
                <a:spcPct val="0"/>
              </a:spcAft>
              <a:buClrTx/>
              <a:buSzTx/>
              <a:buFont typeface="+mj-lt"/>
              <a:buAutoNum type="arabicPeriod"/>
            </a:pPr>
            <a:r>
              <a:rPr lang="en-US" altLang="en-US" sz="1400" dirty="0">
                <a:solidFill>
                  <a:schemeClr val="tx1"/>
                </a:solidFill>
                <a:latin typeface="Arial" panose="020B0604020202020204" pitchFamily="34" charset="0"/>
              </a:rPr>
              <a:t>All collected data is cleaned, organized, and combined to ensure accuracy.</a:t>
            </a:r>
            <a:r>
              <a:rPr kumimoji="0" lang="en-US" altLang="en-US" sz="1400" i="0" u="none" strike="noStrike" cap="none" normalizeH="0" baseline="0" dirty="0">
                <a:ln>
                  <a:noFill/>
                </a:ln>
                <a:solidFill>
                  <a:schemeClr val="tx1"/>
                </a:solidFill>
                <a:effectLst/>
                <a:latin typeface="Arial" panose="020B0604020202020204" pitchFamily="34" charset="0"/>
              </a:rPr>
              <a:t>.</a:t>
            </a:r>
          </a:p>
          <a:p>
            <a:pPr marL="342900" lvl="0" eaLnBrk="0" fontAlgn="base" hangingPunct="0">
              <a:lnSpc>
                <a:spcPct val="100000"/>
              </a:lnSpc>
              <a:spcBef>
                <a:spcPct val="0"/>
              </a:spcBef>
              <a:spcAft>
                <a:spcPct val="0"/>
              </a:spcAft>
              <a:buClrTx/>
              <a:buSzTx/>
              <a:buFont typeface="+mj-lt"/>
              <a:buAutoNum type="arabicPeriod"/>
            </a:pPr>
            <a:r>
              <a:rPr lang="en-US" altLang="en-US" sz="1400" dirty="0">
                <a:solidFill>
                  <a:schemeClr val="tx1"/>
                </a:solidFill>
                <a:latin typeface="Arial" panose="020B0604020202020204" pitchFamily="34" charset="0"/>
              </a:rPr>
              <a:t>AI predicts soil moisture, rainfall, and temperature patterns.</a:t>
            </a:r>
            <a:r>
              <a:rPr kumimoji="0" lang="en-US" altLang="en-US" sz="1400" i="0" u="none" strike="noStrike" cap="none" normalizeH="0" baseline="0" dirty="0">
                <a:ln>
                  <a:noFill/>
                </a:ln>
                <a:solidFill>
                  <a:schemeClr val="tx1"/>
                </a:solidFill>
                <a:effectLst/>
                <a:latin typeface="Arial" panose="020B0604020202020204" pitchFamily="34" charset="0"/>
              </a:rPr>
              <a:t>.</a:t>
            </a:r>
          </a:p>
          <a:p>
            <a:pPr marL="342900" lvl="0" eaLnBrk="0" fontAlgn="base" hangingPunct="0">
              <a:lnSpc>
                <a:spcPct val="100000"/>
              </a:lnSpc>
              <a:spcBef>
                <a:spcPct val="0"/>
              </a:spcBef>
              <a:spcAft>
                <a:spcPct val="0"/>
              </a:spcAft>
              <a:buClrTx/>
              <a:buSzTx/>
              <a:buFont typeface="+mj-lt"/>
              <a:buAutoNum type="arabicPeriod"/>
            </a:pPr>
            <a:r>
              <a:rPr lang="en-US" altLang="en-US" sz="1400" dirty="0">
                <a:solidFill>
                  <a:schemeClr val="tx1"/>
                </a:solidFill>
                <a:latin typeface="Arial" panose="020B0604020202020204" pitchFamily="34" charset="0"/>
              </a:rPr>
              <a:t>The system checks for conditions like drought, heat stress, or excessive rainfall using scientific thresholds.</a:t>
            </a:r>
            <a:r>
              <a:rPr kumimoji="0" lang="en-US" altLang="en-US" sz="1400" i="0" u="none" strike="noStrike" cap="none" normalizeH="0" baseline="0" dirty="0">
                <a:ln>
                  <a:noFill/>
                </a:ln>
                <a:solidFill>
                  <a:schemeClr val="tx1"/>
                </a:solidFill>
                <a:effectLst/>
                <a:latin typeface="Arial" panose="020B0604020202020204" pitchFamily="34" charset="0"/>
              </a:rPr>
              <a:t>.</a:t>
            </a:r>
          </a:p>
          <a:p>
            <a:pPr marL="342900" lvl="0" eaLnBrk="0" fontAlgn="base" hangingPunct="0">
              <a:lnSpc>
                <a:spcPct val="100000"/>
              </a:lnSpc>
              <a:spcBef>
                <a:spcPct val="0"/>
              </a:spcBef>
              <a:spcAft>
                <a:spcPct val="0"/>
              </a:spcAft>
              <a:buClrTx/>
              <a:buSzTx/>
              <a:buFont typeface="+mj-lt"/>
              <a:buAutoNum type="arabicPeriod"/>
            </a:pPr>
            <a:r>
              <a:rPr lang="en-US" altLang="en-US" sz="1400" dirty="0">
                <a:solidFill>
                  <a:schemeClr val="tx1"/>
                </a:solidFill>
                <a:latin typeface="Arial" panose="020B0604020202020204" pitchFamily="34" charset="0"/>
              </a:rPr>
              <a:t>Provides location-specific farming tips and actions to prevent or reduce risk</a:t>
            </a:r>
            <a:r>
              <a:rPr kumimoji="0" lang="en-US" altLang="en-US" sz="1400" i="0" u="none" strike="noStrike" cap="none" normalizeH="0" baseline="0" dirty="0">
                <a:ln>
                  <a:noFill/>
                </a:ln>
                <a:solidFill>
                  <a:schemeClr val="tx1"/>
                </a:solidFill>
                <a:effectLst/>
                <a:latin typeface="Arial" panose="020B0604020202020204" pitchFamily="34" charset="0"/>
              </a:rPr>
              <a:t>.</a:t>
            </a:r>
          </a:p>
          <a:p>
            <a:pPr marL="342900" lvl="0" eaLnBrk="0" fontAlgn="base" hangingPunct="0">
              <a:lnSpc>
                <a:spcPct val="100000"/>
              </a:lnSpc>
              <a:spcBef>
                <a:spcPct val="0"/>
              </a:spcBef>
              <a:spcAft>
                <a:spcPct val="0"/>
              </a:spcAft>
              <a:buClrTx/>
              <a:buSzTx/>
              <a:buFont typeface="+mj-lt"/>
              <a:buAutoNum type="arabicPeriod"/>
            </a:pPr>
            <a:r>
              <a:rPr lang="en-US" altLang="en-US" sz="1400" dirty="0">
                <a:solidFill>
                  <a:schemeClr val="tx1"/>
                </a:solidFill>
                <a:latin typeface="Arial" panose="020B0604020202020204" pitchFamily="34" charset="0"/>
              </a:rPr>
              <a:t>Sends notifications instantly through a web app or SMS so farmers can act quickly.</a:t>
            </a:r>
            <a:r>
              <a:rPr kumimoji="0" lang="en-US" altLang="en-US" sz="1400" i="0" u="none" strike="noStrike" cap="none" normalizeH="0" baseline="0" dirty="0">
                <a:ln>
                  <a:noFill/>
                </a:ln>
                <a:solidFill>
                  <a:schemeClr val="tx1"/>
                </a:solidFill>
                <a:effectLst/>
                <a:latin typeface="Arial" panose="020B0604020202020204" pitchFamily="34" charset="0"/>
              </a:rPr>
              <a:t>.</a:t>
            </a:r>
          </a:p>
          <a:p>
            <a:pPr marL="342900" lvl="0" eaLnBrk="0" fontAlgn="base" hangingPunct="0">
              <a:lnSpc>
                <a:spcPct val="100000"/>
              </a:lnSpc>
              <a:spcBef>
                <a:spcPct val="0"/>
              </a:spcBef>
              <a:spcAft>
                <a:spcPct val="0"/>
              </a:spcAft>
              <a:buClrTx/>
              <a:buSzTx/>
              <a:buFont typeface="+mj-lt"/>
              <a:buAutoNum type="arabicPeriod"/>
            </a:pPr>
            <a:r>
              <a:rPr lang="en-US" altLang="en-US" sz="1400" dirty="0">
                <a:solidFill>
                  <a:schemeClr val="tx1"/>
                </a:solidFill>
                <a:latin typeface="Arial" panose="020B0604020202020204" pitchFamily="34" charset="0"/>
              </a:rPr>
              <a:t>Promotes climate-resilient farming practices for long-term agricultural success.</a:t>
            </a:r>
            <a:r>
              <a:rPr kumimoji="0" lang="en-US" altLang="en-US" sz="140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512144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1"/>
          <p:cNvSpPr/>
          <p:nvPr/>
        </p:nvSpPr>
        <p:spPr>
          <a:xfrm>
            <a:off x="14225" y="1721850"/>
            <a:ext cx="9122100" cy="16998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1"/>
          <p:cNvSpPr txBox="1">
            <a:spLocks noGrp="1"/>
          </p:cNvSpPr>
          <p:nvPr>
            <p:ph type="ctrTitle"/>
          </p:nvPr>
        </p:nvSpPr>
        <p:spPr>
          <a:xfrm>
            <a:off x="1763550" y="2092950"/>
            <a:ext cx="5616900" cy="957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sz="3600" b="1" dirty="0">
                <a:solidFill>
                  <a:schemeClr val="lt1"/>
                </a:solidFill>
                <a:latin typeface="Montserrat"/>
                <a:ea typeface="Montserrat"/>
                <a:cs typeface="Montserrat"/>
                <a:sym typeface="Montserrat"/>
              </a:rPr>
              <a:t>EXPECTED OUTCOMES</a:t>
            </a:r>
            <a:endParaRPr sz="3600" b="1" dirty="0">
              <a:solidFill>
                <a:schemeClr val="lt1"/>
              </a:solidFill>
              <a:latin typeface="Montserrat"/>
              <a:ea typeface="Montserrat"/>
              <a:cs typeface="Montserrat"/>
              <a:sym typeface="Montserrat"/>
            </a:endParaRPr>
          </a:p>
        </p:txBody>
      </p:sp>
      <p:pic>
        <p:nvPicPr>
          <p:cNvPr id="7"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3074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9"/>
          <p:cNvSpPr txBox="1">
            <a:spLocks noGrp="1"/>
          </p:cNvSpPr>
          <p:nvPr>
            <p:ph type="title" idx="4294967295"/>
          </p:nvPr>
        </p:nvSpPr>
        <p:spPr>
          <a:xfrm>
            <a:off x="1405974" y="445025"/>
            <a:ext cx="3882121" cy="761700"/>
          </a:xfrm>
          <a:prstGeom prst="rect">
            <a:avLst/>
          </a:prstGeom>
        </p:spPr>
        <p:txBody>
          <a:bodyPr spcFirstLastPara="1" wrap="square" lIns="91425" tIns="91425" rIns="91425" bIns="91425" anchor="ctr" anchorCtr="0">
            <a:normAutofit/>
          </a:bodyPr>
          <a:lstStyle/>
          <a:p>
            <a:pPr lvl="0"/>
            <a:r>
              <a:rPr lang="en-US" b="1" dirty="0">
                <a:solidFill>
                  <a:schemeClr val="tx1"/>
                </a:solidFill>
                <a:latin typeface="Montserrat"/>
                <a:ea typeface="Montserrat"/>
                <a:cs typeface="Montserrat"/>
                <a:sym typeface="Montserrat"/>
              </a:rPr>
              <a:t>Expected Outcomes</a:t>
            </a:r>
            <a:endParaRPr b="1" dirty="0">
              <a:solidFill>
                <a:schemeClr val="tx1"/>
              </a:solidFill>
              <a:latin typeface="Montserrat"/>
              <a:ea typeface="Montserrat"/>
              <a:cs typeface="Montserrat"/>
              <a:sym typeface="Montserrat"/>
            </a:endParaRPr>
          </a:p>
        </p:txBody>
      </p:sp>
      <p:sp>
        <p:nvSpPr>
          <p:cNvPr id="120" name="Google Shape;120;p19"/>
          <p:cNvSpPr/>
          <p:nvPr/>
        </p:nvSpPr>
        <p:spPr>
          <a:xfrm>
            <a:off x="-25" y="4917825"/>
            <a:ext cx="9144000" cy="2256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
            <a:extLst>
              <a:ext uri="{FF2B5EF4-FFF2-40B4-BE49-F238E27FC236}">
                <a16:creationId xmlns:a16="http://schemas.microsoft.com/office/drawing/2014/main" id="{38084EB4-A030-9EA8-8FC2-EB985CA6D0B9}"/>
              </a:ext>
            </a:extLst>
          </p:cNvPr>
          <p:cNvSpPr>
            <a:spLocks noGrp="1" noChangeArrowheads="1"/>
          </p:cNvSpPr>
          <p:nvPr>
            <p:ph type="body" idx="4294967295"/>
          </p:nvPr>
        </p:nvSpPr>
        <p:spPr bwMode="auto">
          <a:xfrm>
            <a:off x="1405974" y="1585971"/>
            <a:ext cx="10765707" cy="2154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Real-time, location-specific soil and climate alerts for farmers.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Improved decision-making through accurate and timely recommendations.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Optimized use of resources such as water and fertilizers.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Reduced crop losses due to adverse weather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Increased agricultural productivity and profitability.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Greater adoption of sustainable farming practices.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Enhanced climate resilience in farming communities.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51214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1"/>
          <p:cNvSpPr/>
          <p:nvPr/>
        </p:nvSpPr>
        <p:spPr>
          <a:xfrm>
            <a:off x="14225" y="1721850"/>
            <a:ext cx="9122100" cy="16998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1"/>
          <p:cNvSpPr txBox="1">
            <a:spLocks noGrp="1"/>
          </p:cNvSpPr>
          <p:nvPr>
            <p:ph type="ctrTitle"/>
          </p:nvPr>
        </p:nvSpPr>
        <p:spPr>
          <a:xfrm>
            <a:off x="1763550" y="2092950"/>
            <a:ext cx="5616900" cy="957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sz="3600" b="1" dirty="0">
                <a:solidFill>
                  <a:schemeClr val="lt1"/>
                </a:solidFill>
                <a:latin typeface="Montserrat"/>
                <a:ea typeface="Montserrat"/>
                <a:cs typeface="Montserrat"/>
                <a:sym typeface="Montserrat"/>
              </a:rPr>
              <a:t>CONCLUSION</a:t>
            </a:r>
            <a:endParaRPr sz="3600" b="1" dirty="0">
              <a:solidFill>
                <a:schemeClr val="lt1"/>
              </a:solidFill>
              <a:latin typeface="Montserrat"/>
              <a:ea typeface="Montserrat"/>
              <a:cs typeface="Montserrat"/>
              <a:sym typeface="Montserrat"/>
            </a:endParaRPr>
          </a:p>
        </p:txBody>
      </p:sp>
      <p:pic>
        <p:nvPicPr>
          <p:cNvPr id="7"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80380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9"/>
          <p:cNvSpPr txBox="1">
            <a:spLocks noGrp="1"/>
          </p:cNvSpPr>
          <p:nvPr>
            <p:ph type="title" idx="4294967295"/>
          </p:nvPr>
        </p:nvSpPr>
        <p:spPr>
          <a:xfrm>
            <a:off x="1405974" y="445025"/>
            <a:ext cx="3882121" cy="761700"/>
          </a:xfrm>
          <a:prstGeom prst="rect">
            <a:avLst/>
          </a:prstGeom>
        </p:spPr>
        <p:txBody>
          <a:bodyPr spcFirstLastPara="1" wrap="square" lIns="91425" tIns="91425" rIns="91425" bIns="91425" anchor="ctr" anchorCtr="0">
            <a:normAutofit/>
          </a:bodyPr>
          <a:lstStyle/>
          <a:p>
            <a:pPr lvl="0"/>
            <a:r>
              <a:rPr lang="en-US" b="1" dirty="0">
                <a:solidFill>
                  <a:schemeClr val="tx1"/>
                </a:solidFill>
                <a:latin typeface="Montserrat"/>
                <a:ea typeface="Montserrat"/>
                <a:cs typeface="Montserrat"/>
                <a:sym typeface="Montserrat"/>
              </a:rPr>
              <a:t>Conclusion</a:t>
            </a:r>
            <a:endParaRPr b="1" dirty="0">
              <a:solidFill>
                <a:schemeClr val="tx1"/>
              </a:solidFill>
              <a:latin typeface="Montserrat"/>
              <a:ea typeface="Montserrat"/>
              <a:cs typeface="Montserrat"/>
              <a:sym typeface="Montserrat"/>
            </a:endParaRPr>
          </a:p>
        </p:txBody>
      </p:sp>
      <p:sp>
        <p:nvSpPr>
          <p:cNvPr id="120" name="Google Shape;120;p19"/>
          <p:cNvSpPr/>
          <p:nvPr/>
        </p:nvSpPr>
        <p:spPr>
          <a:xfrm>
            <a:off x="-25" y="4917825"/>
            <a:ext cx="9144000" cy="2256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A2284F0B-D127-3B46-82F4-E9A6DE1F0101}"/>
              </a:ext>
            </a:extLst>
          </p:cNvPr>
          <p:cNvSpPr>
            <a:spLocks noGrp="1" noChangeArrowheads="1"/>
          </p:cNvSpPr>
          <p:nvPr>
            <p:ph type="body" idx="4294967295"/>
          </p:nvPr>
        </p:nvSpPr>
        <p:spPr bwMode="auto">
          <a:xfrm>
            <a:off x="1500473" y="1400212"/>
            <a:ext cx="6800247" cy="252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400" b="0" i="0" u="none" strike="noStrike" cap="none" normalizeH="0" baseline="0" dirty="0" err="1">
                <a:ln>
                  <a:noFill/>
                </a:ln>
                <a:solidFill>
                  <a:schemeClr val="tx1"/>
                </a:solidFill>
                <a:effectLst/>
                <a:latin typeface="Arial" panose="020B0604020202020204" pitchFamily="34" charset="0"/>
              </a:rPr>
              <a:t>AgriSense</a:t>
            </a:r>
            <a:r>
              <a:rPr kumimoji="0" lang="en-US" altLang="en-US" sz="1400" b="0" i="0" u="none" strike="noStrike" cap="none" normalizeH="0" baseline="0" dirty="0">
                <a:ln>
                  <a:noFill/>
                </a:ln>
                <a:solidFill>
                  <a:schemeClr val="tx1"/>
                </a:solidFill>
                <a:effectLst/>
                <a:latin typeface="Arial" panose="020B0604020202020204" pitchFamily="34" charset="0"/>
              </a:rPr>
              <a:t> provides an innovative, geo-location-based approach to delivering accurate and timely soil and climate alerts without relying on physical sensors. By integrating weather data, satellite imagery, and advanced analytics, the system offers farmers actionable insights tailored to their specific location and crop requirements.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400" b="0" i="0" u="none" strike="noStrike" cap="none" normalizeH="0" baseline="0" dirty="0">
                <a:ln>
                  <a:noFill/>
                </a:ln>
                <a:solidFill>
                  <a:schemeClr val="tx1"/>
                </a:solidFill>
                <a:effectLst/>
                <a:latin typeface="Arial" panose="020B0604020202020204" pitchFamily="34" charset="0"/>
              </a:rPr>
              <a:t>This empowers them to make informed decisions, optimize resource use, and reduce the risks posed by adverse weather. Ultimately, </a:t>
            </a:r>
            <a:r>
              <a:rPr kumimoji="0" lang="en-US" altLang="en-US" sz="1400" b="0" i="0" u="none" strike="noStrike" cap="none" normalizeH="0" baseline="0" dirty="0" err="1">
                <a:ln>
                  <a:noFill/>
                </a:ln>
                <a:solidFill>
                  <a:schemeClr val="tx1"/>
                </a:solidFill>
                <a:effectLst/>
                <a:latin typeface="Arial" panose="020B0604020202020204" pitchFamily="34" charset="0"/>
              </a:rPr>
              <a:t>AgriSense</a:t>
            </a:r>
            <a:r>
              <a:rPr kumimoji="0" lang="en-US" altLang="en-US" sz="1400" b="0" i="0" u="none" strike="noStrike" cap="none" normalizeH="0" baseline="0" dirty="0">
                <a:ln>
                  <a:noFill/>
                </a:ln>
                <a:solidFill>
                  <a:schemeClr val="tx1"/>
                </a:solidFill>
                <a:effectLst/>
                <a:latin typeface="Arial" panose="020B0604020202020204" pitchFamily="34" charset="0"/>
              </a:rPr>
              <a:t> supports sustainable agriculture, enhances productivity, and strengthens resilience in the face of climate variability.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460451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1"/>
          <p:cNvSpPr/>
          <p:nvPr/>
        </p:nvSpPr>
        <p:spPr>
          <a:xfrm>
            <a:off x="14225" y="1721850"/>
            <a:ext cx="9122100" cy="16998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1"/>
          <p:cNvSpPr txBox="1">
            <a:spLocks noGrp="1"/>
          </p:cNvSpPr>
          <p:nvPr>
            <p:ph type="ctrTitle"/>
          </p:nvPr>
        </p:nvSpPr>
        <p:spPr>
          <a:xfrm>
            <a:off x="1763550" y="2092950"/>
            <a:ext cx="5616900" cy="957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sz="3600" b="1" dirty="0">
                <a:solidFill>
                  <a:schemeClr val="lt1"/>
                </a:solidFill>
                <a:latin typeface="Montserrat"/>
                <a:ea typeface="Montserrat"/>
                <a:cs typeface="Montserrat"/>
                <a:sym typeface="Montserrat"/>
              </a:rPr>
              <a:t>REFERENCES</a:t>
            </a:r>
            <a:endParaRPr sz="3600" b="1" dirty="0">
              <a:solidFill>
                <a:schemeClr val="lt1"/>
              </a:solidFill>
              <a:latin typeface="Montserrat"/>
              <a:ea typeface="Montserrat"/>
              <a:cs typeface="Montserrat"/>
              <a:sym typeface="Montserrat"/>
            </a:endParaRPr>
          </a:p>
        </p:txBody>
      </p:sp>
      <p:pic>
        <p:nvPicPr>
          <p:cNvPr id="7"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80297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9"/>
          <p:cNvSpPr txBox="1">
            <a:spLocks noGrp="1"/>
          </p:cNvSpPr>
          <p:nvPr>
            <p:ph type="title" idx="4294967295"/>
          </p:nvPr>
        </p:nvSpPr>
        <p:spPr>
          <a:xfrm>
            <a:off x="1398774" y="445025"/>
            <a:ext cx="3882121" cy="761700"/>
          </a:xfrm>
          <a:prstGeom prst="rect">
            <a:avLst/>
          </a:prstGeom>
        </p:spPr>
        <p:txBody>
          <a:bodyPr spcFirstLastPara="1" wrap="square" lIns="91425" tIns="91425" rIns="91425" bIns="91425" anchor="ctr" anchorCtr="0">
            <a:normAutofit/>
          </a:bodyPr>
          <a:lstStyle/>
          <a:p>
            <a:pPr lvl="0"/>
            <a:r>
              <a:rPr lang="en-US" b="1" dirty="0">
                <a:solidFill>
                  <a:schemeClr val="tx1"/>
                </a:solidFill>
                <a:latin typeface="Montserrat"/>
                <a:ea typeface="Montserrat"/>
                <a:cs typeface="Montserrat"/>
                <a:sym typeface="Montserrat"/>
              </a:rPr>
              <a:t>References</a:t>
            </a:r>
            <a:endParaRPr b="1" dirty="0">
              <a:solidFill>
                <a:schemeClr val="tx1"/>
              </a:solidFill>
              <a:latin typeface="Montserrat"/>
              <a:ea typeface="Montserrat"/>
              <a:cs typeface="Montserrat"/>
              <a:sym typeface="Montserrat"/>
            </a:endParaRPr>
          </a:p>
        </p:txBody>
      </p:sp>
      <p:sp>
        <p:nvSpPr>
          <p:cNvPr id="116" name="Google Shape;116;p19"/>
          <p:cNvSpPr txBox="1">
            <a:spLocks noGrp="1"/>
          </p:cNvSpPr>
          <p:nvPr>
            <p:ph type="body" idx="4294967295"/>
          </p:nvPr>
        </p:nvSpPr>
        <p:spPr>
          <a:xfrm flipH="1" flipV="1">
            <a:off x="12352587" y="2651760"/>
            <a:ext cx="540453" cy="254000"/>
          </a:xfrm>
          <a:prstGeom prst="rect">
            <a:avLst/>
          </a:prstGeom>
        </p:spPr>
        <p:txBody>
          <a:bodyPr spcFirstLastPara="1" wrap="square" lIns="91425" tIns="91425" rIns="91425" bIns="91425" anchor="t" anchorCtr="0">
            <a:normAutofit fontScale="25000" lnSpcReduction="20000"/>
          </a:bodyPr>
          <a:lstStyle/>
          <a:p>
            <a:pPr marL="0" lvl="0" indent="0" algn="l" rtl="0">
              <a:spcBef>
                <a:spcPts val="0"/>
              </a:spcBef>
              <a:spcAft>
                <a:spcPts val="1200"/>
              </a:spcAft>
              <a:buNone/>
            </a:pPr>
            <a:endParaRPr lang="en-US" sz="1400" dirty="0">
              <a:solidFill>
                <a:schemeClr val="tx1">
                  <a:lumMod val="95000"/>
                  <a:lumOff val="5000"/>
                </a:schemeClr>
              </a:solidFill>
            </a:endParaRPr>
          </a:p>
        </p:txBody>
      </p:sp>
      <p:sp>
        <p:nvSpPr>
          <p:cNvPr id="120" name="Google Shape;120;p19"/>
          <p:cNvSpPr/>
          <p:nvPr/>
        </p:nvSpPr>
        <p:spPr>
          <a:xfrm>
            <a:off x="-25" y="4917825"/>
            <a:ext cx="9144000" cy="2256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3368824-BE34-6902-0F60-34A74D9FDB0B}"/>
              </a:ext>
            </a:extLst>
          </p:cNvPr>
          <p:cNvSpPr>
            <a:spLocks noChangeArrowheads="1"/>
          </p:cNvSpPr>
          <p:nvPr/>
        </p:nvSpPr>
        <p:spPr bwMode="auto">
          <a:xfrm>
            <a:off x="1524000" y="1302376"/>
            <a:ext cx="6214025"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Arial" panose="020B0604020202020204" pitchFamily="34" charset="0"/>
              </a:rPr>
              <a:t>Dorigo, W. A., Wagner, W., </a:t>
            </a:r>
            <a:r>
              <a:rPr kumimoji="0" lang="en-US" altLang="en-US" b="0" i="0" u="none" strike="noStrike" cap="none" normalizeH="0" baseline="0" dirty="0" err="1">
                <a:ln>
                  <a:noFill/>
                </a:ln>
                <a:solidFill>
                  <a:schemeClr val="tx1"/>
                </a:solidFill>
                <a:effectLst/>
                <a:latin typeface="Arial" panose="020B0604020202020204" pitchFamily="34" charset="0"/>
              </a:rPr>
              <a:t>Albergel</a:t>
            </a:r>
            <a:r>
              <a:rPr kumimoji="0" lang="en-US" altLang="en-US" b="0" i="0" u="none" strike="noStrike" cap="none" normalizeH="0" baseline="0" dirty="0">
                <a:ln>
                  <a:noFill/>
                </a:ln>
                <a:solidFill>
                  <a:schemeClr val="tx1"/>
                </a:solidFill>
                <a:effectLst/>
                <a:latin typeface="Arial" panose="020B0604020202020204" pitchFamily="34" charset="0"/>
              </a:rPr>
              <a:t>, C., Albrecht, F., Balsamo, G., </a:t>
            </a:r>
            <a:r>
              <a:rPr kumimoji="0" lang="en-US" altLang="en-US" b="0" i="0" u="none" strike="noStrike" cap="none" normalizeH="0" baseline="0" dirty="0" err="1">
                <a:ln>
                  <a:noFill/>
                </a:ln>
                <a:solidFill>
                  <a:schemeClr val="tx1"/>
                </a:solidFill>
                <a:effectLst/>
                <a:latin typeface="Arial" panose="020B0604020202020204" pitchFamily="34" charset="0"/>
              </a:rPr>
              <a:t>Brocca</a:t>
            </a:r>
            <a:r>
              <a:rPr kumimoji="0" lang="en-US" altLang="en-US" b="0" i="0" u="none" strike="noStrike" cap="none" normalizeH="0" baseline="0" dirty="0">
                <a:ln>
                  <a:noFill/>
                </a:ln>
                <a:solidFill>
                  <a:schemeClr val="tx1"/>
                </a:solidFill>
                <a:effectLst/>
                <a:latin typeface="Arial" panose="020B0604020202020204" pitchFamily="34" charset="0"/>
              </a:rPr>
              <a:t>, L., … &amp; Zappa, L. (2017). ESA CCI Soil Moisture for improved Earth system understanding: State-of-the art and future directions. </a:t>
            </a:r>
            <a:r>
              <a:rPr kumimoji="0" lang="en-US" altLang="en-US" b="0" i="1" u="none" strike="noStrike" cap="none" normalizeH="0" baseline="0" dirty="0">
                <a:ln>
                  <a:noFill/>
                </a:ln>
                <a:solidFill>
                  <a:schemeClr val="tx1"/>
                </a:solidFill>
                <a:effectLst/>
                <a:latin typeface="Arial" panose="020B0604020202020204" pitchFamily="34" charset="0"/>
              </a:rPr>
              <a:t>Remote Sensing of Environment, 203</a:t>
            </a:r>
            <a:r>
              <a:rPr kumimoji="0" lang="en-US" altLang="en-US" b="0" i="0" u="none" strike="noStrike" cap="none" normalizeH="0" baseline="0" dirty="0">
                <a:ln>
                  <a:noFill/>
                </a:ln>
                <a:solidFill>
                  <a:schemeClr val="tx1"/>
                </a:solidFill>
                <a:effectLst/>
                <a:latin typeface="Arial" panose="020B0604020202020204" pitchFamily="34" charset="0"/>
              </a:rPr>
              <a:t>, 185–215. </a:t>
            </a:r>
            <a:r>
              <a:rPr kumimoji="0" lang="en-US" altLang="en-US" b="0" i="0" u="none" strike="noStrike" cap="none" normalizeH="0" baseline="0" dirty="0">
                <a:ln>
                  <a:noFill/>
                </a:ln>
                <a:solidFill>
                  <a:schemeClr val="tx1"/>
                </a:solidFill>
                <a:effectLst/>
                <a:latin typeface="Arial" panose="020B0604020202020204" pitchFamily="34" charset="0"/>
                <a:hlinkClick r:id="rId4"/>
              </a:rPr>
              <a:t>https://doi.org/10.1016/j.rse.2017.07.001</a:t>
            </a:r>
            <a:endParaRPr kumimoji="0" lang="en-US" altLang="en-US"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err="1">
                <a:ln>
                  <a:noFill/>
                </a:ln>
                <a:solidFill>
                  <a:schemeClr val="tx1"/>
                </a:solidFill>
                <a:effectLst/>
                <a:latin typeface="Arial" panose="020B0604020202020204" pitchFamily="34" charset="0"/>
              </a:rPr>
              <a:t>Enenkel</a:t>
            </a:r>
            <a:r>
              <a:rPr kumimoji="0" lang="en-US" altLang="en-US" b="0" i="0" u="none" strike="noStrike" cap="none" normalizeH="0" baseline="0" dirty="0">
                <a:ln>
                  <a:noFill/>
                </a:ln>
                <a:solidFill>
                  <a:schemeClr val="tx1"/>
                </a:solidFill>
                <a:effectLst/>
                <a:latin typeface="Arial" panose="020B0604020202020204" pitchFamily="34" charset="0"/>
              </a:rPr>
              <a:t>, M., Osgood, D., Anderson, M., Powell, B., McCarty, J., &amp; Santis, G. D. (2019). Leveraging Earth observations for the development of drought-tolerant crops. </a:t>
            </a:r>
            <a:r>
              <a:rPr kumimoji="0" lang="en-US" altLang="en-US" b="0" i="1" u="none" strike="noStrike" cap="none" normalizeH="0" baseline="0" dirty="0">
                <a:ln>
                  <a:noFill/>
                </a:ln>
                <a:solidFill>
                  <a:schemeClr val="tx1"/>
                </a:solidFill>
                <a:effectLst/>
                <a:latin typeface="Arial" panose="020B0604020202020204" pitchFamily="34" charset="0"/>
              </a:rPr>
              <a:t>Frontiers in Environmental Science, 7</a:t>
            </a:r>
            <a:r>
              <a:rPr kumimoji="0" lang="en-US" altLang="en-US" b="0" i="0" u="none" strike="noStrike" cap="none" normalizeH="0" baseline="0" dirty="0">
                <a:ln>
                  <a:noFill/>
                </a:ln>
                <a:solidFill>
                  <a:schemeClr val="tx1"/>
                </a:solidFill>
                <a:effectLst/>
                <a:latin typeface="Arial" panose="020B0604020202020204" pitchFamily="34" charset="0"/>
              </a:rPr>
              <a:t>(7), 1–13. </a:t>
            </a:r>
            <a:r>
              <a:rPr kumimoji="0" lang="en-US" altLang="en-US" b="0" i="0" u="none" strike="noStrike" cap="none" normalizeH="0" baseline="0" dirty="0">
                <a:ln>
                  <a:noFill/>
                </a:ln>
                <a:solidFill>
                  <a:schemeClr val="tx1"/>
                </a:solidFill>
                <a:effectLst/>
                <a:latin typeface="Arial" panose="020B0604020202020204" pitchFamily="34" charset="0"/>
                <a:hlinkClick r:id="rId5"/>
              </a:rPr>
              <a:t>https://doi.org/10.3389/fenvs.2019.00007</a:t>
            </a:r>
            <a:endParaRPr kumimoji="0" lang="en-US" altLang="en-US"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342900" lvl="0" indent="-342900" eaLnBrk="0" fontAlgn="base" hangingPunct="0">
              <a:spcBef>
                <a:spcPct val="0"/>
              </a:spcBef>
              <a:spcAft>
                <a:spcPct val="0"/>
              </a:spcAft>
              <a:buClrTx/>
              <a:buFont typeface="Wingdings" panose="05000000000000000000" pitchFamily="2" charset="2"/>
              <a:buChar char="v"/>
            </a:pPr>
            <a:r>
              <a:rPr lang="en-US" dirty="0"/>
              <a:t>Jones, J. W., Antle, J. M., Basso, B., Boote, K. J., Conant, R. T., Foster, I., … &amp; Wheeler, T. R. (2017). Brief history of agricultural systems modeling. </a:t>
            </a:r>
            <a:r>
              <a:rPr lang="en-US" i="1" dirty="0"/>
              <a:t>Agricultural Systems, 155</a:t>
            </a:r>
            <a:r>
              <a:rPr lang="en-US" dirty="0"/>
              <a:t>, 240–254. </a:t>
            </a:r>
          </a:p>
          <a:p>
            <a:pPr lvl="0" eaLnBrk="0" fontAlgn="base" hangingPunct="0">
              <a:spcBef>
                <a:spcPct val="0"/>
              </a:spcBef>
              <a:spcAft>
                <a:spcPct val="0"/>
              </a:spcAft>
              <a:buClrTx/>
            </a:pPr>
            <a:r>
              <a:rPr lang="en-US" dirty="0"/>
              <a:t>       </a:t>
            </a:r>
            <a:r>
              <a:rPr lang="en-US" dirty="0">
                <a:hlinkClick r:id="rId6"/>
              </a:rPr>
              <a:t>https://doi.org/10.1016/j.agsy.2016.05.014</a:t>
            </a:r>
            <a:endParaRPr lang="en-US" dirty="0"/>
          </a:p>
          <a:p>
            <a:pPr lvl="0" eaLnBrk="0" fontAlgn="base" hangingPunct="0">
              <a:spcBef>
                <a:spcPct val="0"/>
              </a:spcBef>
              <a:spcAft>
                <a:spcPct val="0"/>
              </a:spcAft>
              <a:buClrTx/>
            </a:pPr>
            <a:endParaRPr kumimoji="0" lang="en-US" altLang="en-US"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955114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9"/>
          <p:cNvSpPr txBox="1">
            <a:spLocks noGrp="1"/>
          </p:cNvSpPr>
          <p:nvPr>
            <p:ph type="title" idx="4294967295"/>
          </p:nvPr>
        </p:nvSpPr>
        <p:spPr>
          <a:xfrm>
            <a:off x="1398774" y="445025"/>
            <a:ext cx="3882121" cy="761700"/>
          </a:xfrm>
          <a:prstGeom prst="rect">
            <a:avLst/>
          </a:prstGeom>
        </p:spPr>
        <p:txBody>
          <a:bodyPr spcFirstLastPara="1" wrap="square" lIns="91425" tIns="91425" rIns="91425" bIns="91425" anchor="ctr" anchorCtr="0">
            <a:normAutofit/>
          </a:bodyPr>
          <a:lstStyle/>
          <a:p>
            <a:pPr lvl="0"/>
            <a:r>
              <a:rPr lang="en-US" b="1" dirty="0">
                <a:solidFill>
                  <a:schemeClr val="tx1"/>
                </a:solidFill>
                <a:latin typeface="Montserrat"/>
                <a:ea typeface="Montserrat"/>
                <a:cs typeface="Montserrat"/>
                <a:sym typeface="Montserrat"/>
              </a:rPr>
              <a:t>References</a:t>
            </a:r>
            <a:endParaRPr b="1" dirty="0">
              <a:solidFill>
                <a:schemeClr val="tx1"/>
              </a:solidFill>
              <a:latin typeface="Montserrat"/>
              <a:ea typeface="Montserrat"/>
              <a:cs typeface="Montserrat"/>
              <a:sym typeface="Montserrat"/>
            </a:endParaRPr>
          </a:p>
        </p:txBody>
      </p:sp>
      <p:sp>
        <p:nvSpPr>
          <p:cNvPr id="116" name="Google Shape;116;p19"/>
          <p:cNvSpPr txBox="1">
            <a:spLocks noGrp="1"/>
          </p:cNvSpPr>
          <p:nvPr>
            <p:ph type="body" idx="4294967295"/>
          </p:nvPr>
        </p:nvSpPr>
        <p:spPr>
          <a:xfrm>
            <a:off x="1405975" y="1224600"/>
            <a:ext cx="6478026" cy="3052200"/>
          </a:xfrm>
          <a:prstGeom prst="rect">
            <a:avLst/>
          </a:prstGeom>
        </p:spPr>
        <p:txBody>
          <a:bodyPr spcFirstLastPara="1" wrap="square" lIns="91425" tIns="91425" rIns="91425" bIns="91425" anchor="t" anchorCtr="0">
            <a:normAutofit/>
          </a:bodyPr>
          <a:lstStyle/>
          <a:p>
            <a:pPr marL="0" indent="0">
              <a:spcAft>
                <a:spcPts val="1200"/>
              </a:spcAft>
              <a:buNone/>
            </a:pPr>
            <a:endParaRPr lang="en-US" sz="1400" dirty="0">
              <a:solidFill>
                <a:schemeClr val="tx1">
                  <a:lumMod val="95000"/>
                  <a:lumOff val="5000"/>
                </a:schemeClr>
              </a:solidFill>
            </a:endParaRPr>
          </a:p>
          <a:p>
            <a:pPr marL="0" indent="0">
              <a:spcAft>
                <a:spcPts val="1200"/>
              </a:spcAft>
              <a:buNone/>
            </a:pPr>
            <a:endParaRPr lang="en-US" sz="1400" dirty="0">
              <a:solidFill>
                <a:schemeClr val="tx1">
                  <a:lumMod val="95000"/>
                  <a:lumOff val="5000"/>
                </a:schemeClr>
              </a:solidFill>
            </a:endParaRPr>
          </a:p>
          <a:p>
            <a:pPr marL="0" indent="0">
              <a:spcAft>
                <a:spcPts val="1200"/>
              </a:spcAft>
              <a:buNone/>
            </a:pPr>
            <a:r>
              <a:rPr lang="en-US" sz="1400" dirty="0">
                <a:solidFill>
                  <a:schemeClr val="tx1">
                    <a:lumMod val="95000"/>
                    <a:lumOff val="5000"/>
                  </a:schemeClr>
                </a:solidFill>
              </a:rPr>
              <a:t>     </a:t>
            </a:r>
          </a:p>
        </p:txBody>
      </p:sp>
      <p:sp>
        <p:nvSpPr>
          <p:cNvPr id="120" name="Google Shape;120;p19"/>
          <p:cNvSpPr/>
          <p:nvPr/>
        </p:nvSpPr>
        <p:spPr>
          <a:xfrm>
            <a:off x="-25" y="4917825"/>
            <a:ext cx="9144000" cy="2256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2033" y="118911"/>
            <a:ext cx="1791942" cy="65222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F2AE5B2-54EE-942D-4F11-D17A4FEEFCF7}"/>
              </a:ext>
            </a:extLst>
          </p:cNvPr>
          <p:cNvSpPr>
            <a:spLocks noChangeArrowheads="1"/>
          </p:cNvSpPr>
          <p:nvPr/>
        </p:nvSpPr>
        <p:spPr bwMode="auto">
          <a:xfrm>
            <a:off x="1656080" y="1072417"/>
            <a:ext cx="671576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Arial" panose="020B0604020202020204" pitchFamily="34" charset="0"/>
              </a:rPr>
              <a:t>Meroni, M., Fasbender, D., </a:t>
            </a:r>
            <a:r>
              <a:rPr kumimoji="0" lang="en-US" altLang="en-US" b="0" i="0" u="none" strike="noStrike" cap="none" normalizeH="0" baseline="0" dirty="0" err="1">
                <a:ln>
                  <a:noFill/>
                </a:ln>
                <a:solidFill>
                  <a:schemeClr val="tx1"/>
                </a:solidFill>
                <a:effectLst/>
                <a:latin typeface="Arial" panose="020B0604020202020204" pitchFamily="34" charset="0"/>
              </a:rPr>
              <a:t>Kayitakire</a:t>
            </a:r>
            <a:r>
              <a:rPr kumimoji="0" lang="en-US" altLang="en-US" b="0" i="0" u="none" strike="noStrike" cap="none" normalizeH="0" baseline="0" dirty="0">
                <a:ln>
                  <a:noFill/>
                </a:ln>
                <a:solidFill>
                  <a:schemeClr val="tx1"/>
                </a:solidFill>
                <a:effectLst/>
                <a:latin typeface="Arial" panose="020B0604020202020204" pitchFamily="34" charset="0"/>
              </a:rPr>
              <a:t>, F., &amp; Rembold, F. (2021). Early warning and monitoring of agricultural production in food insecure countries using Earth observation data. </a:t>
            </a:r>
            <a:r>
              <a:rPr kumimoji="0" lang="en-US" altLang="en-US" b="0" i="1" u="none" strike="noStrike" cap="none" normalizeH="0" baseline="0" dirty="0">
                <a:ln>
                  <a:noFill/>
                </a:ln>
                <a:solidFill>
                  <a:schemeClr val="tx1"/>
                </a:solidFill>
                <a:effectLst/>
                <a:latin typeface="Arial" panose="020B0604020202020204" pitchFamily="34" charset="0"/>
              </a:rPr>
              <a:t>Remote Sensing, 13</a:t>
            </a:r>
            <a:r>
              <a:rPr kumimoji="0" lang="en-US" altLang="en-US" b="0" i="0" u="none" strike="noStrike" cap="none" normalizeH="0" baseline="0" dirty="0">
                <a:ln>
                  <a:noFill/>
                </a:ln>
                <a:solidFill>
                  <a:schemeClr val="tx1"/>
                </a:solidFill>
                <a:effectLst/>
                <a:latin typeface="Arial" panose="020B0604020202020204" pitchFamily="34" charset="0"/>
              </a:rPr>
              <a:t>(9), 1753. </a:t>
            </a:r>
            <a:r>
              <a:rPr kumimoji="0" lang="en-US" altLang="en-US" b="0" i="0" u="none" strike="noStrike" cap="none" normalizeH="0" baseline="0" dirty="0">
                <a:ln>
                  <a:noFill/>
                </a:ln>
                <a:solidFill>
                  <a:schemeClr val="tx1"/>
                </a:solidFill>
                <a:effectLst/>
                <a:latin typeface="Arial" panose="020B0604020202020204" pitchFamily="34" charset="0"/>
                <a:hlinkClick r:id="rId4"/>
              </a:rPr>
              <a:t>https://doi.org/10.3390/rs13091753</a:t>
            </a: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Arial" panose="020B0604020202020204" pitchFamily="34" charset="0"/>
              </a:rPr>
              <a:t>5Pham, H. M., Xia, J., &amp; Ha, N. T. (2019). Monitoring agricultural drought in the Lower Mekong Basin using MODIS NDVI and land surface temperature data. </a:t>
            </a:r>
            <a:r>
              <a:rPr kumimoji="0" lang="en-US" altLang="en-US" b="0" i="1" u="none" strike="noStrike" cap="none" normalizeH="0" baseline="0" dirty="0">
                <a:ln>
                  <a:noFill/>
                </a:ln>
                <a:solidFill>
                  <a:schemeClr val="tx1"/>
                </a:solidFill>
                <a:effectLst/>
                <a:latin typeface="Arial" panose="020B0604020202020204" pitchFamily="34" charset="0"/>
              </a:rPr>
              <a:t>Agricultural Water Management, 226</a:t>
            </a:r>
            <a:r>
              <a:rPr kumimoji="0" lang="en-US" altLang="en-US" b="0" i="0" u="none" strike="noStrike" cap="none" normalizeH="0" baseline="0" dirty="0">
                <a:ln>
                  <a:noFill/>
                </a:ln>
                <a:solidFill>
                  <a:schemeClr val="tx1"/>
                </a:solidFill>
                <a:effectLst/>
                <a:latin typeface="Arial" panose="020B0604020202020204" pitchFamily="34" charset="0"/>
              </a:rPr>
              <a:t>, 105753. </a:t>
            </a:r>
            <a:r>
              <a:rPr kumimoji="0" lang="en-US" altLang="en-US" b="0" i="0" u="none" strike="noStrike" cap="none" normalizeH="0" baseline="0" dirty="0">
                <a:ln>
                  <a:noFill/>
                </a:ln>
                <a:solidFill>
                  <a:schemeClr val="tx1"/>
                </a:solidFill>
                <a:effectLst/>
                <a:latin typeface="Arial" panose="020B0604020202020204" pitchFamily="34" charset="0"/>
                <a:hlinkClick r:id="rId5"/>
              </a:rPr>
              <a:t>https://doi.org/10.1016/j.agwat.2019.105753</a:t>
            </a: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Arial" panose="020B0604020202020204" pitchFamily="34" charset="0"/>
              </a:rPr>
              <a:t>You, L., Wood, S., Wood-Sichra, U., &amp; Wu, W. (2014). Generating global crop distribution maps: From census to grid. </a:t>
            </a:r>
            <a:r>
              <a:rPr kumimoji="0" lang="en-US" altLang="en-US" b="0" i="1" u="none" strike="noStrike" cap="none" normalizeH="0" baseline="0" dirty="0">
                <a:ln>
                  <a:noFill/>
                </a:ln>
                <a:solidFill>
                  <a:schemeClr val="tx1"/>
                </a:solidFill>
                <a:effectLst/>
                <a:latin typeface="Arial" panose="020B0604020202020204" pitchFamily="34" charset="0"/>
              </a:rPr>
              <a:t>Agricultural Systems, 127</a:t>
            </a:r>
            <a:r>
              <a:rPr kumimoji="0" lang="en-US" altLang="en-US" b="0" i="0" u="none" strike="noStrike" cap="none" normalizeH="0" baseline="0" dirty="0">
                <a:ln>
                  <a:noFill/>
                </a:ln>
                <a:solidFill>
                  <a:schemeClr val="tx1"/>
                </a:solidFill>
                <a:effectLst/>
                <a:latin typeface="Arial" panose="020B0604020202020204" pitchFamily="34" charset="0"/>
              </a:rPr>
              <a:t>, 53–60. </a:t>
            </a:r>
            <a:r>
              <a:rPr kumimoji="0" lang="en-US" altLang="en-US" b="0" i="0" u="none" strike="noStrike" cap="none" normalizeH="0" baseline="0" dirty="0">
                <a:ln>
                  <a:noFill/>
                </a:ln>
                <a:solidFill>
                  <a:schemeClr val="tx1"/>
                </a:solidFill>
                <a:effectLst/>
                <a:latin typeface="Arial" panose="020B0604020202020204" pitchFamily="34" charset="0"/>
                <a:hlinkClick r:id="rId6"/>
              </a:rPr>
              <a:t>https://doi.org/10.1016/j.agsy.2014.01.002</a:t>
            </a: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350799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1"/>
          <p:cNvSpPr/>
          <p:nvPr/>
        </p:nvSpPr>
        <p:spPr>
          <a:xfrm>
            <a:off x="14225" y="1721850"/>
            <a:ext cx="9122100" cy="1699800"/>
          </a:xfrm>
          <a:prstGeom prst="rect">
            <a:avLst/>
          </a:prstGeom>
          <a:solidFill>
            <a:srgbClr val="7030A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1"/>
          <p:cNvSpPr txBox="1">
            <a:spLocks noGrp="1"/>
          </p:cNvSpPr>
          <p:nvPr>
            <p:ph type="ctrTitle"/>
          </p:nvPr>
        </p:nvSpPr>
        <p:spPr>
          <a:xfrm>
            <a:off x="1763550" y="2092950"/>
            <a:ext cx="5616900" cy="957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sz="3600" b="1" dirty="0">
                <a:solidFill>
                  <a:schemeClr val="lt1"/>
                </a:solidFill>
                <a:latin typeface="Montserrat"/>
                <a:ea typeface="Montserrat"/>
                <a:cs typeface="Montserrat"/>
                <a:sym typeface="Montserrat"/>
              </a:rPr>
              <a:t>THANK YOU…!!!</a:t>
            </a:r>
            <a:endParaRPr sz="3600" b="1" dirty="0">
              <a:solidFill>
                <a:schemeClr val="lt1"/>
              </a:solidFill>
              <a:latin typeface="Montserrat"/>
              <a:ea typeface="Montserrat"/>
              <a:cs typeface="Montserrat"/>
              <a:sym typeface="Montserrat"/>
            </a:endParaRPr>
          </a:p>
        </p:txBody>
      </p:sp>
      <p:pic>
        <p:nvPicPr>
          <p:cNvPr id="7" name="Picture 2" descr="D:\NEW_LOGO_GHRUA\GHRU Amravat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3118" y="212043"/>
            <a:ext cx="1791942" cy="6522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898289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1805</TotalTime>
  <Words>1747</Words>
  <Application>Microsoft Office PowerPoint</Application>
  <PresentationFormat>On-screen Show (16:9)</PresentationFormat>
  <Paragraphs>147</Paragraphs>
  <Slides>29</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Times New Roman</vt:lpstr>
      <vt:lpstr>Wingdings</vt:lpstr>
      <vt:lpstr>Montserrat</vt:lpstr>
      <vt:lpstr>Arial</vt:lpstr>
      <vt:lpstr>Simple Light</vt:lpstr>
      <vt:lpstr>PowerPoint Presentation</vt:lpstr>
      <vt:lpstr>PowerPoint Presentation</vt:lpstr>
      <vt:lpstr>ABSTRACT</vt:lpstr>
      <vt:lpstr>ABSTRACT</vt:lpstr>
      <vt:lpstr>INTRODUCTION</vt:lpstr>
      <vt:lpstr>Introduction</vt:lpstr>
      <vt:lpstr>OBJECTIVES</vt:lpstr>
      <vt:lpstr>Objectives</vt:lpstr>
      <vt:lpstr>LITERATURE REVIEW</vt:lpstr>
      <vt:lpstr>Literature Review</vt:lpstr>
      <vt:lpstr>Literature Review</vt:lpstr>
      <vt:lpstr>PROBLEM STATEMENT</vt:lpstr>
      <vt:lpstr>Problem Statement</vt:lpstr>
      <vt:lpstr>PROPOSED SYSTEM</vt:lpstr>
      <vt:lpstr>Proposed System</vt:lpstr>
      <vt:lpstr>PowerPoint Presentation</vt:lpstr>
      <vt:lpstr>METHODOLOGY</vt:lpstr>
      <vt:lpstr>Methodology</vt:lpstr>
      <vt:lpstr>Methodology</vt:lpstr>
      <vt:lpstr>MODULES DESCRIPTION</vt:lpstr>
      <vt:lpstr>Modules Description</vt:lpstr>
      <vt:lpstr>EXPECTED OUTCOMES</vt:lpstr>
      <vt:lpstr>Expected Outcomes</vt:lpstr>
      <vt:lpstr>CONCLUSION</vt:lpstr>
      <vt:lpstr>Conclusion</vt:lpstr>
      <vt:lpstr>REFERENCES</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Amol</dc:creator>
  <cp:lastModifiedBy>harsh Meshram</cp:lastModifiedBy>
  <cp:revision>59</cp:revision>
  <dcterms:modified xsi:type="dcterms:W3CDTF">2025-08-11T05:53:35Z</dcterms:modified>
</cp:coreProperties>
</file>